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566928"/>
            <a:ext cx="2011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UCAgent / NutShell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86868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F4F8FC"/>
                </a:solidFill>
                <a:latin typeface="Microsoft YaHei"/>
              </a:rPr>
              <a:t>CacheSage-UC 验证答辩演示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240280"/>
            <a:ext cx="8046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A3B1C2"/>
                </a:solidFill>
                <a:latin typeface="Microsoft YaHei"/>
              </a:rPr>
              <a:t>从 Python harness 到 Linux Picker/Toffee smoke 的可复核证据链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18211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329184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23/23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365760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Python harness 覆盖点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9815" y="318211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6975" y="329184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6975" y="365760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确定性 injected 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23367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434340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F5BE52"/>
                </a:solidFill>
                <a:latin typeface="Microsoft YaHei"/>
              </a:rPr>
              <a:t>2/2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70916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make gen_dut / make 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99815" y="4233672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5" y="4343400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1 passed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5" y="4709160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上游 pytest smoke</a:t>
            </a:r>
          </a:p>
        </p:txBody>
      </p:sp>
      <p:pic>
        <p:nvPicPr>
          <p:cNvPr id="17" name="Picture 16" descr="terminal-sm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560320"/>
            <a:ext cx="5349240" cy="22677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" y="6080760"/>
            <a:ext cx="6217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A3B1C2"/>
                </a:solidFill>
                <a:latin typeface="Microsoft YaHei"/>
              </a:rPr>
              <a:t>证据边界：smoke 已跑通；RTL measured coverage 尚未由上游 flow 导出。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EVIDENCE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交付物围绕可复现验证证据组织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2880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Generator / CRV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4884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seed 11 + directed spine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82880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Reference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14884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byte-addressable 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73736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182880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Scoreboard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14884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read data + event signature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5468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4612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5661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23 个功能覆盖点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15468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324612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Fault Injection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5661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5 类确定性检出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59" y="3154680"/>
            <a:ext cx="3246120" cy="932688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3246120"/>
            <a:ext cx="2971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Linux Smoke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35661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Picker/Toffee 上游入口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219456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600" y="361188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06640" y="219456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06640" y="3611880"/>
            <a:ext cx="502920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38928"/>
            <a:ext cx="1042416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F4F8FC"/>
                </a:solidFill>
                <a:latin typeface="Microsoft YaHei"/>
              </a:rPr>
              <a:t>核心口径：Python harness 负责可控刺激、scoreboard rehearsal 与故障检出；Linux smoke 证明上游 Picker/Toffee 基础链路可执行。两类证据分栏记录，避免把 smoke 通过写成 RTL 覆盖率完成。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LINUX SMOKE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基础环境已经从准备态变成可执行 smoke 证据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03</a:t>
            </a:r>
          </a:p>
        </p:txBody>
      </p:sp>
      <p:pic>
        <p:nvPicPr>
          <p:cNvPr id="6" name="Picture 5" descr="terminal-linux-e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720840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691640"/>
            <a:ext cx="3611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4F8FC"/>
                </a:solidFill>
                <a:latin typeface="Microsoft YaHei"/>
              </a:rPr>
              <a:t>已验证组件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0280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1" y="2221992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Ubuntu 24.04.4 LTS / WSL2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862072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1" y="2843784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Verilator 5.020，GCC 13.3，GNU Make 4.3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83864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1" y="3465576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Picker 0.9.0：C++ 与 Python 支持 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4087368"/>
            <a:ext cx="335584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F4F8FC"/>
                </a:solidFill>
                <a:latin typeface="Microsoft YaHei"/>
              </a:rPr>
              <a:t>pytoffee 0.3.0 + toffee-test 0.3.0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74920"/>
            <a:ext cx="3337560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A3B1C2"/>
                </a:solidFill>
                <a:latin typeface="Microsoft YaHei"/>
              </a:rPr>
              <a:t>版本说明：Toffee 最新 PyPI 包存在接口漂移；smoke 环境固定到可 import 且能跑上游 pytest 的 0.3.0 组合。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UPSTREAM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上游 Example-NutShellCache 的两个关键目标已完成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04</a:t>
            </a:r>
          </a:p>
        </p:txBody>
      </p:sp>
      <p:pic>
        <p:nvPicPr>
          <p:cNvPr id="6" name="Picture 5" descr="terminal-sm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6126480" cy="2880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fetch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锁定 commit
cdc9ef7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5230368"/>
            <a:ext cx="347472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93591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989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gen_dut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Picker export
exit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5230368"/>
            <a:ext cx="347471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382512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Toffee pytest
1 passed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41080" y="5230368"/>
            <a:ext cx="347472" cy="0"/>
          </a:xfrm>
          <a:prstGeom prst="line">
            <a:avLst/>
          </a:prstGeom>
          <a:ln w="19050">
            <a:solidFill>
              <a:srgbClr val="3ACC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71432" y="4800600"/>
            <a:ext cx="2240280" cy="86868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4892040"/>
            <a:ext cx="1965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ACCE1"/>
                </a:solidFill>
                <a:latin typeface="Microsoft YaHei"/>
              </a:rPr>
              <a:t>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5212080"/>
            <a:ext cx="1965960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JSON/MD artifact
写入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4069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4F8FC"/>
                </a:solidFill>
                <a:latin typeface="Microsoft YaHei"/>
              </a:rPr>
              <a:t>结果口径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331720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2631" y="2313432"/>
            <a:ext cx="3630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4F8FC"/>
                </a:solidFill>
                <a:latin typeface="Microsoft YaHei"/>
              </a:rPr>
              <a:t>`rtl_smoke_complete` 来自真实命令返回值。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953512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2935224"/>
            <a:ext cx="3630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4F8FC"/>
                </a:solidFill>
                <a:latin typeface="Microsoft YaHei"/>
              </a:rPr>
              <a:t>make stdout/stderr 已保存到 JSON 摘要。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575304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2631" y="3557016"/>
            <a:ext cx="3630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4F8FC"/>
                </a:solidFill>
                <a:latin typeface="Microsoft YaHei"/>
              </a:rPr>
              <a:t>RTL measured coverage 仍为空，等待 coverage flow 导出。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seed 11 的 96 条事务覆盖 23 个功能点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05</a:t>
            </a:r>
          </a:p>
        </p:txBody>
      </p:sp>
      <p:pic>
        <p:nvPicPr>
          <p:cNvPr id="6" name="Picture 5" descr="terminal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507492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1627632"/>
            <a:ext cx="22860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53DE8F"/>
                </a:solidFill>
                <a:latin typeface="Microsoft YaHei"/>
              </a:rPr>
              <a:t>23/23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F4F8FC"/>
                </a:solidFill>
                <a:latin typeface="Microsoft YaHei"/>
              </a:rPr>
              <a:t>100.00%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423160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miss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459736"/>
            <a:ext cx="297180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1320" y="241401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79776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refill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816352"/>
            <a:ext cx="297180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2770632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136392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hit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172968"/>
            <a:ext cx="2215341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3127248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93008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write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529584"/>
            <a:ext cx="2485505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61320" y="3483864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849624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eviction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886200"/>
            <a:ext cx="2755669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20" y="3840480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206240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dirty_eviction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4242816"/>
            <a:ext cx="178308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9709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562855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writeback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4599431"/>
            <a:ext cx="1783080" cy="109728"/>
          </a:xfrm>
          <a:prstGeom prst="rect">
            <a:avLst/>
          </a:prstGeom>
          <a:solidFill>
            <a:srgbClr val="3AC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61320" y="4553712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919471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stall_hold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4956047"/>
            <a:ext cx="108065" cy="109728"/>
          </a:xfrm>
          <a:prstGeom prst="rect">
            <a:avLst/>
          </a:prstGeom>
          <a:solidFill>
            <a:srgbClr val="F5B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61320" y="4910327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276087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A3B1C2"/>
                </a:solidFill>
                <a:latin typeface="Microsoft YaHei"/>
              </a:rPr>
              <a:t>reset_window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5312663"/>
            <a:ext cx="54032" cy="109728"/>
          </a:xfrm>
          <a:prstGeom prst="rect">
            <a:avLst/>
          </a:prstGeom>
          <a:solidFill>
            <a:srgbClr val="F5B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61320" y="5266943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4F8FC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FAULT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5 类 injected fault 均触发可解释失败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06</a:t>
            </a:r>
          </a:p>
        </p:txBody>
      </p:sp>
      <p:pic>
        <p:nvPicPr>
          <p:cNvPr id="6" name="Picture 5" descr="terminal-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21208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1609344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4F8FC"/>
                </a:solidFill>
                <a:latin typeface="Microsoft YaHei"/>
              </a:rPr>
              <a:t>检出矩阵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768" y="2084832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2176272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drop_dirty_writeback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395728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670048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2761488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ignore_write_mask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980944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255264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3346704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refill_shift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3566160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3840480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3931920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stuck_replacement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4151376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4425696"/>
            <a:ext cx="4663440" cy="502920"/>
          </a:xfrm>
          <a:prstGeom prst="rect">
            <a:avLst/>
          </a:prstGeom>
          <a:solidFill>
            <a:srgbClr val="1F3042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4517136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ACCE1"/>
                </a:solidFill>
                <a:latin typeface="Microsoft YaHei"/>
              </a:rPr>
              <a:t>unstable_under_stall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736592"/>
            <a:ext cx="4389120" cy="118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0">
                <a:solidFill>
                  <a:srgbClr val="F4F8FC"/>
                </a:solidFill>
                <a:latin typeface="Microsoft YaHei"/>
              </a:rPr>
              <a:t>expected failure · failures=2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50992"/>
            <a:ext cx="105156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A3B1C2"/>
                </a:solidFill>
                <a:latin typeface="Microsoft YaHei"/>
              </a:rPr>
              <a:t>这些 artifact 用来证明验证环境和 scoreboard 能捕捉注入错误；报告不把 injected fault 写成真实 NutShell RTL bug。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REVIEW 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人工复核把草案问题收敛为可审计的验证逻辑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07</a:t>
            </a:r>
          </a:p>
        </p:txBody>
      </p:sp>
      <p:pic>
        <p:nvPicPr>
          <p:cNvPr id="6" name="Picture 5" descr="terminal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5394960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572768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572768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补入 directed dirty eviction、clean eviction、same-set pressure，并让 scoreboard 检查 writeback 事件。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77440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377440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将 seed 前缀做成 directed coverage spine，随机段再混入 word offset、mask 和多 set 访问。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182112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182112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补充 stuck_replacement、refill_shift、unstable_under_stall，并为每个 fault 固定 deterministic seed。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986784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986784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报告拆成 planned coverage、Python harness measured coverage、RTL/Toffee measured coverage 三栏，真实 RTL 暂不夸大。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791456"/>
            <a:ext cx="594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ACCE1"/>
                </a:solidFill>
                <a:latin typeface="Microsoft YaHei"/>
              </a:rPr>
              <a:t>RV-005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791456"/>
            <a:ext cx="42519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F4F8FC"/>
                </a:solidFill>
                <a:latin typeface="Microsoft YaHei"/>
              </a:rPr>
              <a:t>锁定 XS-MLVP/Example-NutShellCache commit，新增 fetch 脚本和 layout inspector，只在本地拉取第三方源码。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074920"/>
            <a:ext cx="103784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A3B1C2"/>
                </a:solidFill>
                <a:latin typeface="Microsoft YaHei"/>
              </a:rPr>
              <a:t>答辩时可说明：UCAgent 负责加速草案和覆盖洞提示，人工复核负责 invariant、fault 定义、报告边界和可复现证据。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310896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3ACCE1"/>
                </a:solidFill>
                <a:latin typeface="Microsoft YaHei"/>
              </a:rPr>
              <a:t>SUBMISSION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81381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YaHei"/>
              </a:rPr>
              <a:t>最终材料保留实证结果，也保留未导出覆盖率的边界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75488" y="1298448"/>
            <a:ext cx="10680192" cy="0"/>
          </a:xfrm>
          <a:prstGeom prst="line">
            <a:avLst/>
          </a:prstGeom>
          <a:ln w="12700">
            <a:solidFill>
              <a:srgbClr val="486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09960" y="635508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A3B1C2"/>
                </a:solidFill>
                <a:latin typeface="Microsoft YaHei"/>
              </a:rPr>
              <a:t>08</a:t>
            </a:r>
          </a:p>
        </p:txBody>
      </p:sp>
      <p:pic>
        <p:nvPicPr>
          <p:cNvPr id="6" name="Picture 5" descr="terminal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39496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55080" y="169164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0136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6712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正式验证报告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96528" y="169164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33688" y="180136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33688" y="216712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答辩演示材料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4320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85292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F5BE52"/>
                </a:solidFill>
                <a:latin typeface="Microsoft YaHei"/>
              </a:rPr>
              <a:t>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1868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smoke / fault / coverage artifact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96528" y="2743200"/>
            <a:ext cx="2331720" cy="841248"/>
          </a:xfrm>
          <a:prstGeom prst="rect">
            <a:avLst/>
          </a:prstGeom>
          <a:solidFill>
            <a:srgbClr val="152130"/>
          </a:solidFill>
          <a:ln w="7620">
            <a:solidFill>
              <a:srgbClr val="486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3688" y="2852928"/>
            <a:ext cx="2057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53DE8F"/>
                </a:solidFill>
                <a:latin typeface="Microsoft YaHei"/>
              </a:rPr>
              <a:t>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3218688"/>
            <a:ext cx="20574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80" b="0">
                <a:solidFill>
                  <a:srgbClr val="A3B1C2"/>
                </a:solidFill>
                <a:latin typeface="Microsoft YaHei"/>
              </a:rPr>
              <a:t>验证计划与复核记录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407408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F4F8FC"/>
                </a:solidFill>
                <a:latin typeface="Microsoft YaHei"/>
              </a:rPr>
              <a:t>答辩边界表述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828032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809744"/>
            <a:ext cx="4178807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>
                <a:solidFill>
                  <a:srgbClr val="F4F8FC"/>
                </a:solidFill>
                <a:latin typeface="Microsoft YaHei"/>
              </a:rPr>
              <a:t>已完成：Python harness、fault 检出、Linux Picker/Toffee smoke。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5449824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431536"/>
            <a:ext cx="4178807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>
                <a:solidFill>
                  <a:srgbClr val="F4F8FC"/>
                </a:solidFill>
                <a:latin typeface="Microsoft YaHei"/>
              </a:rPr>
              <a:t>未声称：真实 RTL bug、RTL measured coverage。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6071616"/>
            <a:ext cx="16459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1">
                <a:solidFill>
                  <a:srgbClr val="3ACCE1"/>
                </a:solidFill>
                <a:latin typeface="Microsoft YaHei"/>
              </a:rPr>
              <a:t>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053328"/>
            <a:ext cx="4178807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>
                <a:solidFill>
                  <a:srgbClr val="F4F8FC"/>
                </a:solidFill>
                <a:latin typeface="Microsoft YaHei"/>
              </a:rPr>
              <a:t>后续条件：waveform、coverage export、更长随机回归。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