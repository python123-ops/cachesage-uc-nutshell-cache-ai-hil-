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c0fc33d7ab4330" /><Relationship Type="http://schemas.openxmlformats.org/officeDocument/2006/relationships/extended-properties" Target="/docProps/app.xml" Id="R305b1d5090f3477f" /><Relationship Type="http://schemas.openxmlformats.org/officeDocument/2006/relationships/officeDocument" Target="/ppt/presentation.xml" Id="R2d6a9b1268384d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a0e9c6af3e4e06"/>
  </p:sldMasterIdLst>
  <p:notesMasterIdLst>
    <p:notesMasterId xmlns:r="http://schemas.openxmlformats.org/officeDocument/2006/relationships" r:id="R92322b76edb042e4"/>
  </p:notesMasterIdLst>
  <p:sldIdLst>
    <p:sldId xmlns:r="http://schemas.openxmlformats.org/officeDocument/2006/relationships" id="256" r:id="R1090060fc98245f4"/>
    <p:sldId xmlns:r="http://schemas.openxmlformats.org/officeDocument/2006/relationships" id="257" r:id="R185e02b4efdb47e8"/>
    <p:sldId xmlns:r="http://schemas.openxmlformats.org/officeDocument/2006/relationships" id="258" r:id="R2fcbdbd956964b67"/>
    <p:sldId xmlns:r="http://schemas.openxmlformats.org/officeDocument/2006/relationships" id="259" r:id="R7a1b4050e4384d8a"/>
    <p:sldId xmlns:r="http://schemas.openxmlformats.org/officeDocument/2006/relationships" id="260" r:id="R9290e0691e8f4637"/>
    <p:sldId xmlns:r="http://schemas.openxmlformats.org/officeDocument/2006/relationships" id="261" r:id="R4eb7b98885174230"/>
    <p:sldId xmlns:r="http://schemas.openxmlformats.org/officeDocument/2006/relationships" id="262" r:id="Rb8d2313545914069"/>
    <p:sldId xmlns:r="http://schemas.openxmlformats.org/officeDocument/2006/relationships" id="263" r:id="R61f7e4a84ec84bd1"/>
    <p:sldId xmlns:r="http://schemas.openxmlformats.org/officeDocument/2006/relationships" id="264" r:id="Rf5d334048ec64c4e"/>
    <p:sldId xmlns:r="http://schemas.openxmlformats.org/officeDocument/2006/relationships" id="265" r:id="Rc8e791e559924cea"/>
    <p:sldId xmlns:r="http://schemas.openxmlformats.org/officeDocument/2006/relationships" id="266" r:id="R32877b9209184cef"/>
    <p:sldId xmlns:r="http://schemas.openxmlformats.org/officeDocument/2006/relationships" id="267" r:id="Rf1bd3e3db86b47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ec61bcc4ad4730" /><Relationship Type="http://schemas.openxmlformats.org/officeDocument/2006/relationships/slideMaster" Target="/ppt/slideMasters/slideMaster1.xml" Id="Reca0e9c6af3e4e06" /><Relationship Type="http://schemas.openxmlformats.org/officeDocument/2006/relationships/notesMaster" Target="/ppt/notesMasters/notesMaster1.xml" Id="R92322b76edb042e4" /><Relationship Type="http://schemas.openxmlformats.org/officeDocument/2006/relationships/presProps" Target="/ppt/presProps.xml" Id="R6905a1e1d73b432f" /><Relationship Type="http://schemas.openxmlformats.org/officeDocument/2006/relationships/tableStyles" Target="/ppt/tableStyles.xml" Id="R2d19c2e91c144dcc" /><Relationship Type="http://schemas.openxmlformats.org/officeDocument/2006/relationships/slide" Target="/ppt/slides/slide1.xml" Id="R1090060fc98245f4" /><Relationship Type="http://schemas.openxmlformats.org/officeDocument/2006/relationships/slide" Target="/ppt/slides/slide2.xml" Id="R185e02b4efdb47e8" /><Relationship Type="http://schemas.openxmlformats.org/officeDocument/2006/relationships/slide" Target="/ppt/slides/slide3.xml" Id="R2fcbdbd956964b67" /><Relationship Type="http://schemas.openxmlformats.org/officeDocument/2006/relationships/slide" Target="/ppt/slides/slide4.xml" Id="R7a1b4050e4384d8a" /><Relationship Type="http://schemas.openxmlformats.org/officeDocument/2006/relationships/slide" Target="/ppt/slides/slide5.xml" Id="R9290e0691e8f4637" /><Relationship Type="http://schemas.openxmlformats.org/officeDocument/2006/relationships/slide" Target="/ppt/slides/slide6.xml" Id="R4eb7b98885174230" /><Relationship Type="http://schemas.openxmlformats.org/officeDocument/2006/relationships/slide" Target="/ppt/slides/slide7.xml" Id="Rb8d2313545914069" /><Relationship Type="http://schemas.openxmlformats.org/officeDocument/2006/relationships/slide" Target="/ppt/slides/slide8.xml" Id="R61f7e4a84ec84bd1" /><Relationship Type="http://schemas.openxmlformats.org/officeDocument/2006/relationships/slide" Target="/ppt/slides/slide9.xml" Id="Rf5d334048ec64c4e" /><Relationship Type="http://schemas.openxmlformats.org/officeDocument/2006/relationships/slide" Target="/ppt/slides/slide10.xml" Id="Rc8e791e559924cea" /><Relationship Type="http://schemas.openxmlformats.org/officeDocument/2006/relationships/slide" Target="/ppt/slides/slide11.xml" Id="R32877b9209184cef" /><Relationship Type="http://schemas.openxmlformats.org/officeDocument/2006/relationships/slide" Target="/ppt/slides/slide12.xml" Id="Rf1bd3e3db86b47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6fd94a64894c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018907c5114477" /><Relationship Type="http://schemas.openxmlformats.org/officeDocument/2006/relationships/notesMaster" Target="/ppt/notesMasters/notesMaster1.xml" Id="R2db2c67fc10344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3ef2d68ac84204" /><Relationship Type="http://schemas.openxmlformats.org/officeDocument/2006/relationships/notesMaster" Target="/ppt/notesMasters/notesMaster1.xml" Id="R5b377730788c43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be3f213a75409f" /><Relationship Type="http://schemas.openxmlformats.org/officeDocument/2006/relationships/notesMaster" Target="/ppt/notesMasters/notesMaster1.xml" Id="R219687f114c347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351dfa002f4fe3" /><Relationship Type="http://schemas.openxmlformats.org/officeDocument/2006/relationships/notesMaster" Target="/ppt/notesMasters/notesMaster1.xml" Id="R55b8e7302a954d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83a65f03c442b4" /><Relationship Type="http://schemas.openxmlformats.org/officeDocument/2006/relationships/notesMaster" Target="/ppt/notesMasters/notesMaster1.xml" Id="R2a6d18c98d3d40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f9fa347b604d1d" /><Relationship Type="http://schemas.openxmlformats.org/officeDocument/2006/relationships/notesMaster" Target="/ppt/notesMasters/notesMaster1.xml" Id="R6f93636a853044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ad21808c9e46ba" /><Relationship Type="http://schemas.openxmlformats.org/officeDocument/2006/relationships/notesMaster" Target="/ppt/notesMasters/notesMaster1.xml" Id="R08e9368c977841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4c790de9ba4bfb" /><Relationship Type="http://schemas.openxmlformats.org/officeDocument/2006/relationships/notesMaster" Target="/ppt/notesMasters/notesMaster1.xml" Id="R526bf9d9b15d47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26e169a2ce4c0f" /><Relationship Type="http://schemas.openxmlformats.org/officeDocument/2006/relationships/notesMaster" Target="/ppt/notesMasters/notesMaster1.xml" Id="R36d6bed915da49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8fe8fb84c04a6f" /><Relationship Type="http://schemas.openxmlformats.org/officeDocument/2006/relationships/notesMaster" Target="/ppt/notesMasters/notesMaster1.xml" Id="R79e362df02d742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fea7fb59be4c60" /><Relationship Type="http://schemas.openxmlformats.org/officeDocument/2006/relationships/notesMaster" Target="/ppt/notesMasters/notesMaster1.xml" Id="Ra8bbe92cbe9a49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21aa5ae06c4837" /><Relationship Type="http://schemas.openxmlformats.org/officeDocument/2006/relationships/notesMaster" Target="/ppt/notesMasters/notesMaster1.xml" Id="Rb1af05facde542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405d901de24a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87b1a92d6e4162" /><Relationship Type="http://schemas.openxmlformats.org/officeDocument/2006/relationships/slideLayout" Target="/ppt/slideLayouts/slideLayout1.xml" Id="Rde1b6d2bd4a343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1b6d2bd4a343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e37977fbe4f20" /><Relationship Type="http://schemas.openxmlformats.org/officeDocument/2006/relationships/image" Target="/ppt/media/image.png" Id="Re37c00e1549f417d" /><Relationship Type="http://schemas.openxmlformats.org/officeDocument/2006/relationships/notesSlide" Target="/ppt/notesSlides/notesSlide1.xml" Id="R9758ca6e2e7f49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bfd02f0154b50" /><Relationship Type="http://schemas.openxmlformats.org/officeDocument/2006/relationships/image" Target="/ppt/media/image2.png" Id="Re00a1eb1e5d94838" /><Relationship Type="http://schemas.openxmlformats.org/officeDocument/2006/relationships/notesSlide" Target="/ppt/notesSlides/notesSlide2.xml" Id="R0730a938787b47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fc638d5f14880" /><Relationship Type="http://schemas.openxmlformats.org/officeDocument/2006/relationships/image" Target="/ppt/media/image3.png" Id="Ra68b61586d4b4961" /><Relationship Type="http://schemas.openxmlformats.org/officeDocument/2006/relationships/notesSlide" Target="/ppt/notesSlides/notesSlide3.xml" Id="Rf3a2b20b53454b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cb25ec2254681" /><Relationship Type="http://schemas.openxmlformats.org/officeDocument/2006/relationships/image" Target="/ppt/media/image4.png" Id="Rdd8d88f679b4421c" /><Relationship Type="http://schemas.openxmlformats.org/officeDocument/2006/relationships/notesSlide" Target="/ppt/notesSlides/notesSlide4.xml" Id="Re5dac5db10cb4e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8d880180a45a1" /><Relationship Type="http://schemas.openxmlformats.org/officeDocument/2006/relationships/image" Target="/ppt/media/image5.png" Id="R3d03cb08099542fa" /><Relationship Type="http://schemas.openxmlformats.org/officeDocument/2006/relationships/notesSlide" Target="/ppt/notesSlides/notesSlide5.xml" Id="R38ca2449454643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b7766290d45ae" /><Relationship Type="http://schemas.openxmlformats.org/officeDocument/2006/relationships/image" Target="/ppt/media/image6.png" Id="Rba97b9db49294b2f" /><Relationship Type="http://schemas.openxmlformats.org/officeDocument/2006/relationships/notesSlide" Target="/ppt/notesSlides/notesSlide6.xml" Id="Re6276864c87c44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16bb552304288" /><Relationship Type="http://schemas.openxmlformats.org/officeDocument/2006/relationships/image" Target="/ppt/media/image7.png" Id="R9b95a19ce65340a2" /><Relationship Type="http://schemas.openxmlformats.org/officeDocument/2006/relationships/notesSlide" Target="/ppt/notesSlides/notesSlide7.xml" Id="R1068c559fdea4e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00b8f7865466a" /><Relationship Type="http://schemas.openxmlformats.org/officeDocument/2006/relationships/image" Target="/ppt/media/image8.png" Id="R3cb116e642994ffa" /><Relationship Type="http://schemas.openxmlformats.org/officeDocument/2006/relationships/chart" Target="/ppt/slides/charts/chart1.xml" Id="Rabc28187eb31439f" /><Relationship Type="http://schemas.openxmlformats.org/officeDocument/2006/relationships/notesSlide" Target="/ppt/notesSlides/notesSlide8.xml" Id="R36c56a3c284a42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16ff535bb47fa" /><Relationship Type="http://schemas.openxmlformats.org/officeDocument/2006/relationships/image" Target="/ppt/media/image9.png" Id="R93a685e4956c48cb" /><Relationship Type="http://schemas.openxmlformats.org/officeDocument/2006/relationships/notesSlide" Target="/ppt/notesSlides/notesSlide9.xml" Id="R1ccd08864f1646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bf18505ba46e1" /><Relationship Type="http://schemas.openxmlformats.org/officeDocument/2006/relationships/image" Target="/ppt/media/image10.png" Id="R57e6256b59e14c75" /><Relationship Type="http://schemas.openxmlformats.org/officeDocument/2006/relationships/notesSlide" Target="/ppt/notesSlides/notesSlide10.xml" Id="Rc30cb981c55747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431547d5e4095" /><Relationship Type="http://schemas.openxmlformats.org/officeDocument/2006/relationships/image" Target="/ppt/media/image11.png" Id="R67d25a6eb7604eae" /><Relationship Type="http://schemas.openxmlformats.org/officeDocument/2006/relationships/notesSlide" Target="/ppt/notesSlides/notesSlide11.xml" Id="R330cb3ed249d40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7937e35254e2f" /><Relationship Type="http://schemas.openxmlformats.org/officeDocument/2006/relationships/image" Target="/ppt/media/image12.png" Id="Ra858be49db3645ee" /><Relationship Type="http://schemas.openxmlformats.org/officeDocument/2006/relationships/notesSlide" Target="/ppt/notesSlides/notesSlide12.xml" Id="R0812ed9e1381402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覆盖率</c:v>
          </c:tx>
          <c:spPr>
            <a:solidFill xmlns:a="http://schemas.openxmlformats.org/drawingml/2006/main">
              <a:srgbClr val="145DA0"/>
            </a:solidFill>
          </c:spPr>
          <c:cat>
            <c:strLit>
              <c:ptCount val="3"/>
              <c:pt idx="0">
                <c:v>Python functional</c:v>
              </c:pt>
              <c:pt idx="1">
                <c:v>RTL functional</c:v>
              </c:pt>
              <c:pt idx="2">
                <c:v>RTL code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100</c:v>
              </c:pt>
              <c:pt idx="2">
                <c:v>61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2E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c00e1549f41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62F7E-6769-417F-9647-D9ABD457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>
              <a:alpha val="4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23A65-A65D-4F2B-899D-41B54CBC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UCAgent · NutShell Cache 验证赛题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937C6-BFE5-48AA-A52A-55D361C0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E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F5B3A-F879-4B43-A871-5A3C572D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CacheSage-UC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8EC1E-9C25-40FE-8424-8E2A537E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面向真实 RTL 的自动化验证与人工复核闭环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FB98E-A7A8-481D-B140-B418A5B5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从可运行原型走向可度量、可复核、可复现的 Cache 验证证据链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09A16-6B44-4677-8343-6C39C09A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247650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081D43">
              <a:alpha val="88000"/>
            </a:srgbClr>
          </a:solidFill>
          <a:ln xmlns:a="http://schemas.openxmlformats.org/drawingml/2006/main" w="9525">
            <a:solidFill>
              <a:srgbClr val="6EA4D2">
                <a:alpha val="5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FB03F-052B-4B76-B1E0-FF9A4182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36/36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D21D7-B4E5-4322-9709-16420B15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真实 RTL 功能覆盖点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FA78D-A2C6-468B-A7C1-9D30EDC8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62375"/>
            <a:ext cx="247650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081D43">
              <a:alpha val="88000"/>
            </a:srgbClr>
          </a:solidFill>
          <a:ln xmlns:a="http://schemas.openxmlformats.org/drawingml/2006/main" w="9525">
            <a:solidFill>
              <a:srgbClr val="6EA4D2">
                <a:alpha val="5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5AFCA-F503-4EBC-9866-F27D6C96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95725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207 /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C98F4-AE7E-413C-B050-C67E2FEA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100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Scoreboard 比较 / 失败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0D597-A09B-4354-8C4A-F50BA813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62375"/>
            <a:ext cx="247650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081D43">
              <a:alpha val="88000"/>
            </a:srgbClr>
          </a:solidFill>
          <a:ln xmlns:a="http://schemas.openxmlformats.org/drawingml/2006/main" w="9525">
            <a:solidFill>
              <a:srgbClr val="6EA4D2">
                <a:alpha val="5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5F59A-FA24-4130-8676-37FD06E8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95725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rPr>
              <a:t>61.00%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9CDAC-BADA-40A8-835F-A196482F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Verilator 代码覆盖率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8C43B-7D28-402F-B001-4699C2CD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62375"/>
            <a:ext cx="247650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081D43">
              <a:alpha val="88000"/>
            </a:srgbClr>
          </a:solidFill>
          <a:ln xmlns:a="http://schemas.openxmlformats.org/drawingml/2006/main" w="9525">
            <a:solidFill>
              <a:srgbClr val="6EA4D2">
                <a:alpha val="5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A4A89-E389-481F-A25F-064CB63C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95725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437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D9ADE-3EDC-4844-85C1-54A93F6A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100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真实 DUT 事务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68AF0-A2A7-4E8E-94F9-9B613CE3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GitLink · python123/cachesage-uc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00EFA-22B6-4D30-B601-D0467F22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150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GitHub · python123-ops/CacheSage-UC-NutShell-Cache-AI-HIL-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4BF0B7-5522-4272-B353-11F2D1BC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115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4232025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a1eb1e5d948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E3355-E240-42EC-9189-348E62B9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36395-10A0-4840-948F-02F1C301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01 立项依据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ACBAF-2965-46BF-AD10-0D7BB56C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Cache 验证的难点不在激励数量，而在结果是否可信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D3D0B-49FC-4B9D-985F-F55B1905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BE0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747A2-94ED-4044-B6D5-92DC1556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真实 RTL、独立判定与可追溯证据必须同时成立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61D0B-36B7-4EA0-86F4-5002E72B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008A9-57CB-4722-B3AD-BC680284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CacheSage-UC · NutShell Cache 自动化验证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4DB5E-CC8C-49D6-8B8F-0343B5AE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4095750" cy="3886200"/>
          </a:xfrm>
          <a:prstGeom xmlns:a="http://schemas.openxmlformats.org/drawingml/2006/main" prst="roundRect">
            <a:avLst>
              <a:gd name="adj" fmla="val 490"/>
            </a:avLst>
          </a:prstGeom>
          <a:solidFill xmlns:a="http://schemas.openxmlformats.org/drawingml/2006/main">
            <a:srgbClr val="F7FAFE">
              <a:alpha val="95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28C3A-1A24-4D4F-BD09-0D5A0478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A3321-4BBE-48DC-9B60-F30F5A63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研究对象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33CFB-B98F-44EB-B738-34554DBA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NutShell Cache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54E25-041F-44E6-9D73-FB38DF7C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5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95775"/>
                </a:solidFill>
                <a:latin typeface="Microsoft YaHei"/>
                <a:ea typeface="Microsoft YaHei"/>
                <a:cs typeface="Microsoft YaHei"/>
              </a:rPr>
              <a:t>64-bit 数据通路</a:t>
            </a:r>
          </a:p>
          <a:p xmlns:a="http://schemas.openxmlformats.org/drawingml/2006/main">
            <a:pPr algn="l">
              <a:defRPr sz="1575" b="0">
                <a:solidFill>
                  <a:srgbClr val="395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95775"/>
                </a:solidFill>
                <a:latin typeface="Microsoft YaHei"/>
                <a:ea typeface="Microsoft YaHei"/>
                <a:cs typeface="Microsoft YaHei"/>
              </a:rPr>
              <a:t>8-bit byte mask</a:t>
            </a:r>
          </a:p>
          <a:p xmlns:a="http://schemas.openxmlformats.org/drawingml/2006/main">
            <a:pPr algn="l">
              <a:defRPr sz="1575" b="0">
                <a:solidFill>
                  <a:srgbClr val="395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95775"/>
                </a:solidFill>
                <a:latin typeface="Microsoft YaHei"/>
                <a:ea typeface="Microsoft YaHei"/>
                <a:cs typeface="Microsoft YaHei"/>
              </a:rPr>
              <a:t>64-byte cache line</a:t>
            </a:r>
          </a:p>
          <a:p xmlns:a="http://schemas.openxmlformats.org/drawingml/2006/main">
            <a:pPr algn="l">
              <a:defRPr sz="1575" b="0">
                <a:solidFill>
                  <a:srgbClr val="395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95775"/>
                </a:solidFill>
                <a:latin typeface="Microsoft YaHei"/>
                <a:ea typeface="Microsoft YaHei"/>
                <a:cs typeface="Microsoft YaHei"/>
              </a:rPr>
              <a:t>128 sets · 4 ways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338B7-69A8-47E6-A5BA-0F325F8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11620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5DA0">
              <a:alpha val="16000"/>
            </a:srgbClr>
          </a:solidFill>
          <a:ln xmlns:a="http://schemas.openxmlformats.org/drawingml/2006/main" w="9525">
            <a:solidFill>
              <a:srgbClr val="145DA0">
                <a:alpha val="6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9EAA4-E993-4522-8C8C-A10C2751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149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5D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5DA0"/>
                </a:solidFill>
                <a:latin typeface="Microsoft YaHei"/>
                <a:ea typeface="Microsoft YaHei"/>
                <a:cs typeface="Microsoft YaHei"/>
              </a:rPr>
              <a:t>replacement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928F1-24B9-46C9-AA1F-C6F9BFD7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67300"/>
            <a:ext cx="10668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8B7A0">
              <a:alpha val="16000"/>
            </a:srgbClr>
          </a:solidFill>
          <a:ln xmlns:a="http://schemas.openxmlformats.org/drawingml/2006/main" w="9525">
            <a:solidFill>
              <a:srgbClr val="18B7A0">
                <a:alpha val="65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E1861-4737-458F-A82D-AD720F2A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149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B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8B7A0"/>
                </a:solidFill>
                <a:latin typeface="Microsoft YaHei"/>
                <a:ea typeface="Microsoft YaHei"/>
                <a:cs typeface="Microsoft YaHei"/>
              </a:rPr>
              <a:t>coherence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D6A3E-185D-40D7-BFE2-13DFC2BF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67300"/>
            <a:ext cx="11049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8F4B">
              <a:alpha val="16000"/>
            </a:srgbClr>
          </a:solidFill>
          <a:ln xmlns:a="http://schemas.openxmlformats.org/drawingml/2006/main" w="9525">
            <a:solidFill>
              <a:srgbClr val="F18F4B">
                <a:alpha val="65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047C9-4D9E-44CB-9054-A12A01E4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149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18F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18F4B"/>
                </a:solidFill>
                <a:latin typeface="Microsoft YaHei"/>
                <a:ea typeface="Microsoft YaHei"/>
                <a:cs typeface="Microsoft YaHei"/>
              </a:rPr>
              <a:t>stall / reset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FBFE8-4B32-49F6-9DDE-6DF3A2DB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66900"/>
            <a:ext cx="636270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081D43">
              <a:alpha val="88000"/>
            </a:srgbClr>
          </a:solidFill>
          <a:ln xmlns:a="http://schemas.openxmlformats.org/drawingml/2006/main" w="9525">
            <a:solidFill>
              <a:srgbClr val="6EA4D2">
                <a:alpha val="5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DF368-EF8A-4493-A67E-1B599CC0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764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26F980-044E-4EE6-8FAD-DD3B5F87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288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场景复杂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5C69D5-83EE-46D3-AB59-F4FE51F7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hit / miss、mask、替换、写回与 probe 交织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3C01C0-3DBC-45AF-8677-D0669742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62300"/>
            <a:ext cx="636270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081D43">
              <a:alpha val="88000"/>
            </a:srgbClr>
          </a:solidFill>
          <a:ln xmlns:a="http://schemas.openxmlformats.org/drawingml/2006/main" w="9525">
            <a:solidFill>
              <a:srgbClr val="6EA4D2">
                <a:alpha val="55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97C48-2592-48AC-B868-6DDF178E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718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7457BE-C07F-4A81-A03D-57452F4F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242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模型同源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878CFF-A3AB-43C0-814A-724D0328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766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DUT 与参考模型复用同一路径时可能同步出错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69C8F2-E181-4136-978C-F266537C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57700"/>
            <a:ext cx="636270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081D43">
              <a:alpha val="88000"/>
            </a:srgbClr>
          </a:solidFill>
          <a:ln xmlns:a="http://schemas.openxmlformats.org/drawingml/2006/main" w="9525">
            <a:solidFill>
              <a:srgbClr val="6EA4D2">
                <a:alpha val="55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A27221-C6DF-4DB5-9F4E-8F99D7C4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B6D68F-CEC3-4A8A-BF8A-9211B33A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96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证据割裂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1F37B8-452D-4B9F-8CFB-0500E8A2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720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smoke、功能覆盖和代码覆盖若混写便失去解释力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B300BE-DCFF-41F1-9383-98B7E859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8674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研究判断：覆盖率必须绑定真实 DUT 可观察事件，并由独立 Scoreboard 给出可解释结论。</a:t>
            </a:r>
          </a:p>
        </p:txBody>
      </p:sp>
    </p:spTree>
    <p:extLst>
      <p:ext uri="{BB962C8B-B14F-4D97-AF65-F5344CB8AC3E}">
        <p14:creationId xmlns:p14="http://schemas.microsoft.com/office/powerpoint/2010/main" val="21438203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b61586d4b49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E02BA-49D3-48E4-820D-6D2FBFF8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1FC3E-9558-4A82-825C-FC4A58E7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01 立项依据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52689-5362-4412-B6D8-C7135359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从“跑通 smoke”到“形成可信验证闭环”仍有三道门槛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5CDEB-48C5-412B-9F90-F0104B3A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BE0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91ADC-2C8A-4AB3-8800-61BDEBA9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310BD-8622-449E-9775-109A12A7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CacheSage-UC · NutShell Cache 自动化验证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EF904-DBB4-46E9-ACB6-3A446AFB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38475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C8E8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9878D-1F1D-47B9-BCFC-1C6A66B7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38475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C8E8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37BE9-BC2A-4288-89B9-734A4145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3333750" cy="3429000"/>
          </a:xfrm>
          <a:prstGeom xmlns:a="http://schemas.openxmlformats.org/drawingml/2006/main" prst="roundRect">
            <a:avLst>
              <a:gd name="adj" fmla="val 571"/>
            </a:avLst>
          </a:prstGeom>
          <a:solidFill xmlns:a="http://schemas.openxmlformats.org/drawingml/2006/main">
            <a:srgbClr val="F8FBFF">
              <a:alpha val="95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C5618-325B-42D7-9E18-D2C36A72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BD2EC-1268-4186-911A-573A2419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激励可达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489D1-FA93-4663-B861-3A6C13A0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F20C7-54AF-4050-838B-39FA353E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rPr>
              <a:t>约束随机必须打到</a:t>
            </a:r>
          </a:p>
          <a:p xmlns:a="http://schemas.openxmlformats.org/drawingml/2006/main">
            <a:pPr algn="l">
              <a:def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rPr>
              <a:t>同 set 压力、dirty victim、</a:t>
            </a:r>
          </a:p>
          <a:p xmlns:a="http://schemas.openxmlformats.org/drawingml/2006/main">
            <a:pPr algn="l">
              <a:def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rPr>
              <a:t>mask 组合与一致性 probe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8DE03-6C24-4243-A6F5-A2978953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8575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3C8E8">
              <a:alpha val="16000"/>
            </a:srgbClr>
          </a:solidFill>
          <a:ln xmlns:a="http://schemas.openxmlformats.org/drawingml/2006/main" w="9525">
            <a:solidFill>
              <a:srgbClr val="23C8E8">
                <a:alpha val="6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7CFC5-A74E-45A1-81C4-D9532204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Generator / CRV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81C1C-50B4-4BD1-8A4A-4AC9BAA9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52625"/>
            <a:ext cx="3333750" cy="3429000"/>
          </a:xfrm>
          <a:prstGeom xmlns:a="http://schemas.openxmlformats.org/drawingml/2006/main" prst="roundRect">
            <a:avLst>
              <a:gd name="adj" fmla="val 571"/>
            </a:avLst>
          </a:prstGeom>
          <a:solidFill xmlns:a="http://schemas.openxmlformats.org/drawingml/2006/main">
            <a:srgbClr val="F8FBFF">
              <a:alpha val="95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09688-6771-4EBC-82BD-FA109220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CC511-ECE0-4CE8-9EE9-C5EAF8FD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95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判定独立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3470E-9B0B-49B7-9E5B-4E842959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0992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E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3E375-FC76-42E6-BE25-E0F9B47E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861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rPr>
              <a:t>不能让驱动错误同时污染</a:t>
            </a:r>
          </a:p>
          <a:p xmlns:a="http://schemas.openxmlformats.org/drawingml/2006/main">
            <a:pPr algn="l">
              <a:def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rPr>
              <a:t>DUT 与 reference model，</a:t>
            </a:r>
          </a:p>
          <a:p xmlns:a="http://schemas.openxmlformats.org/drawingml/2006/main">
            <a:pPr algn="l">
              <a:def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rPr>
              <a:t>需独立 byte-mask 语义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F2A43F-C828-4E1C-866E-1985A815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57750"/>
            <a:ext cx="28575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BE4F">
              <a:alpha val="16000"/>
            </a:srgbClr>
          </a:solidFill>
          <a:ln xmlns:a="http://schemas.openxmlformats.org/drawingml/2006/main" w="9525">
            <a:solidFill>
              <a:srgbClr val="F4BE4F">
                <a:alpha val="65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8477E-D917-4F28-AA4B-78B575ED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053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rPr>
              <a:t>Reference / Scoreboard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376AC-7B75-4D98-8236-11ACF041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52625"/>
            <a:ext cx="3333750" cy="3429000"/>
          </a:xfrm>
          <a:prstGeom xmlns:a="http://schemas.openxmlformats.org/drawingml/2006/main" prst="roundRect">
            <a:avLst>
              <a:gd name="adj" fmla="val 571"/>
            </a:avLst>
          </a:prstGeom>
          <a:solidFill xmlns:a="http://schemas.openxmlformats.org/drawingml/2006/main">
            <a:srgbClr val="F8FBFF">
              <a:alpha val="95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893D86-C7D4-4C48-8A8E-EC44E541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52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148EB5-DB73-4259-9CBA-78B89C89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95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证据可审计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D7BEC9-11FD-48CA-98BF-E085DDCB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992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012495-01C2-4AC3-AF2A-B16C7367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861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rPr>
              <a:t>每个覆盖点要能反查</a:t>
            </a:r>
          </a:p>
          <a:p xmlns:a="http://schemas.openxmlformats.org/drawingml/2006/main">
            <a:pPr algn="l">
              <a:def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rPr>
              <a:t>seed、事务、总线事件、</a:t>
            </a:r>
          </a:p>
          <a:p xmlns:a="http://schemas.openxmlformats.org/drawingml/2006/main">
            <a:pPr algn="l">
              <a:def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E7B"/>
                </a:solidFill>
                <a:latin typeface="Microsoft YaHei"/>
                <a:ea typeface="Microsoft YaHei"/>
                <a:cs typeface="Microsoft YaHei"/>
              </a:rPr>
              <a:t>波形和人工修正记录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8BDB5A-81BD-49FC-B85F-83794B45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57750"/>
            <a:ext cx="28575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2D392">
              <a:alpha val="16000"/>
            </a:srgbClr>
          </a:solidFill>
          <a:ln xmlns:a="http://schemas.openxmlformats.org/drawingml/2006/main" w="9525">
            <a:solidFill>
              <a:srgbClr val="42D392">
                <a:alpha val="65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200ABC-5E47-451D-8410-CA6B7234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053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Coverage / Journal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7CE87F-3832-4A8B-A99D-F913B1B5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966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71A3D">
              <a:alpha val="92000"/>
            </a:srgbClr>
          </a:solidFill>
          <a:ln xmlns:a="http://schemas.openxmlformats.org/drawingml/2006/main" w="9525">
            <a:solidFill>
              <a:srgbClr val="6EA4D2">
                <a:alpha val="5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341AE4-10A2-4FFE-AB51-119ABFE2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本项目的核心不是增加一套测试脚本，而是把激励、判定、覆盖与复核组织成同一证据链。</a:t>
            </a:r>
          </a:p>
        </p:txBody>
      </p:sp>
    </p:spTree>
    <p:extLst>
      <p:ext uri="{BB962C8B-B14F-4D97-AF65-F5344CB8AC3E}">
        <p14:creationId xmlns:p14="http://schemas.microsoft.com/office/powerpoint/2010/main" val="13613621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d88f679b442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8856F-F93F-4D46-A502-15218AB2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248CB-AD1C-4256-8FC3-981F2139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02 研究方案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CD53C-3EB1-463C-8D82-37E4B141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三项人工定制把通用原型改造成真实 RTL 验证系统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6AE85-C3F3-4172-BFAD-9048006C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BE0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5969A-04F2-4777-BBE0-5382D286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55D0B-23E1-4640-967C-57A68CEA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CacheSage-UC · NutShell Cache 自动化验证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CDEE8-F40C-41A9-B43B-B359DB74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8FBFF">
              <a:alpha val="95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3ADC2-A2FA-4CD8-B311-753D6036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贡献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93121-BF13-441E-98AF-8D6D0EF9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协议参数重构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2000F-30EA-4F01-8AB8-75377270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002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762E6-8C37-47E7-9B15-D68A0FE8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812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D5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D5B79"/>
                </a:solidFill>
                <a:latin typeface="Microsoft YaHei"/>
                <a:ea typeface="Microsoft YaHei"/>
                <a:cs typeface="Microsoft YaHei"/>
              </a:rPr>
              <a:t>按真实 DUT 固定 64-bit data、8-bit mask、64B line、128 sets、4 ways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478AE-62B7-4BA2-8E68-51B139DD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278130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23C8E8">
              <a:alpha val="12000"/>
            </a:srgbClr>
          </a:solidFill>
          <a:ln xmlns:a="http://schemas.openxmlformats.org/drawingml/2006/main" w="9525">
            <a:solidFill>
              <a:srgbClr val="23C8E8">
                <a:alpha val="55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F14C3-1973-43EE-8128-450D6A5E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避免 Python 快速模型参数污染 RTL 场景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F8816-6E9E-4162-912A-9C03A7EA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89660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8FBFF">
              <a:alpha val="95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9E50B-F816-4771-816C-ED2E9F3A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rPr>
              <a:t>贡献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0B02F-318E-4418-B91E-787D75DA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独立判定链路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B85A7-3691-4184-A14B-E4D90829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337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F2A4D-F1BA-4209-A6BA-1EA938E3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147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D5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D5B79"/>
                </a:solidFill>
                <a:latin typeface="Microsoft YaHei"/>
                <a:ea typeface="Microsoft YaHei"/>
                <a:cs typeface="Microsoft YaHei"/>
              </a:rPr>
              <a:t>显式构造 SimpleBus 请求，独立 Reference Memory 按 byte mask 更新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539B6-94D3-4C8D-BC98-42E46DC7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278130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4BE4F">
              <a:alpha val="12000"/>
            </a:srgbClr>
          </a:solidFill>
          <a:ln xmlns:a="http://schemas.openxmlformats.org/drawingml/2006/main" w="9525">
            <a:solidFill>
              <a:srgbClr val="F4BE4F">
                <a:alpha val="5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5653B-4DE5-4A37-8517-60A3A8BE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消除驱动与参考模型同源漏检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E7EC5-BF9B-4E16-BE4F-783B7EF2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1089660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8FBFF">
              <a:alpha val="95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ADE22B-EA52-4562-9ED5-B02E5DE2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贡献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4B744-6782-45C3-9EA6-B2EA5B69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事件化覆盖模型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745297-67B1-445B-8928-62BBECA4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672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09DFE2-2996-4766-92D5-B25CE2D2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482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D5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D5B79"/>
                </a:solidFill>
                <a:latin typeface="Microsoft YaHei"/>
                <a:ea typeface="Microsoft YaHei"/>
                <a:cs typeface="Microsoft YaHei"/>
              </a:rPr>
              <a:t>36 个覆盖点只由 response、memory、victim、probe 等真实事件命中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A3E10B-FA47-4F26-B79A-B46D7341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278130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42D392">
              <a:alpha val="12000"/>
            </a:srgbClr>
          </a:solidFill>
          <a:ln xmlns:a="http://schemas.openxmlformats.org/drawingml/2006/main" w="9525">
            <a:solidFill>
              <a:srgbClr val="42D392">
                <a:alpha val="5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01D9E3-9A5D-4DFD-A24E-7F9F64AE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覆盖率具备来源、分母和失败门槛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F3AE1B-62B9-42D4-8CEE-B397D05C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完成标准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BF1975-89C3-436E-82E3-6FC818D7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24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覆盖闭环仅在 RTL 36/36 且 Scoreboard failure = 0 时成立</a:t>
            </a:r>
          </a:p>
        </p:txBody>
      </p:sp>
    </p:spTree>
    <p:extLst>
      <p:ext uri="{BB962C8B-B14F-4D97-AF65-F5344CB8AC3E}">
        <p14:creationId xmlns:p14="http://schemas.microsoft.com/office/powerpoint/2010/main" val="8188081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3cb08099542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0A0B7-6E36-4DA9-AEE7-1FA4C547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3F87F-26AF-4CA3-97D4-B7C49CA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02 研究方案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1EC50-F725-4F7C-BFA6-4F2424D9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端到端链路将激励、RTL 行为与判定证据闭环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282EA-B124-4C19-82F1-1E2A04AA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BE0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33D53-2467-440E-8878-96FB2607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F6697-3697-4C86-832B-15280FB9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CacheSage-UC · NutShell Cache 自动化验证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AC058-CE03-47F5-93C0-D38FEE32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574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C8E8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25454-8EB7-4DB9-96E2-4B4441A6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574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C8E8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E35F8-E7CB-47D2-8779-CF9DFC79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574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B7A0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662D3-75B1-47A7-A10B-28DD0721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574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B7A0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2CEF1-56BA-4264-BD70-B70EC304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574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B7A0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456DE-8214-45B7-860A-B507ED41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5240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071C42">
              <a:alpha val="92000"/>
            </a:srgbClr>
          </a:solidFill>
          <a:ln xmlns:a="http://schemas.openxmlformats.org/drawingml/2006/main" w="9525">
            <a:solidFill>
              <a:srgbClr val="23C8E8">
                <a:alpha val="7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A7453-7D9C-4A89-A3FC-4A37E616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Generator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3B130-5752-426C-BB78-736AF0AA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D0D86-94AA-4C71-9743-DF6FE73E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directed + CRV</a:t>
            </a:r>
          </a:p>
          <a:p xmlns:a="http://schemas.openxmlformats.org/drawingml/2006/main">
            <a:pPr algn="ctr">
              <a:def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seed 11 / 29 / 73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2348D-F379-4A5D-8EA5-6DCBBB11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71700"/>
            <a:ext cx="15240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071C42">
              <a:alpha val="92000"/>
            </a:srgbClr>
          </a:solidFill>
          <a:ln xmlns:a="http://schemas.openxmlformats.org/drawingml/2006/main" w="9525">
            <a:solidFill>
              <a:srgbClr val="23C8E8">
                <a:alpha val="7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356D6-8B0E-4E2A-BFE2-769394F9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62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SimpleBus Driver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5CD68-D1C5-4D5B-A3CD-A78252C4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89A88-F1B9-4CCE-8FAA-F384A661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051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address · size · cmd</a:t>
            </a:r>
          </a:p>
          <a:p xmlns:a="http://schemas.openxmlformats.org/drawingml/2006/main">
            <a:pPr algn="ctr">
              <a:def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mask ·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C19086-5B21-4AD4-A429-2152AC5E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15240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071C42">
              <a:alpha val="92000"/>
            </a:srgbClr>
          </a:solidFill>
          <a:ln xmlns:a="http://schemas.openxmlformats.org/drawingml/2006/main" w="9525">
            <a:solidFill>
              <a:srgbClr val="F4BE4F">
                <a:alpha val="7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6B10CA-163B-4281-B954-0879CEEF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62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Picker DUT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CD4A5-5F91-46A4-837C-688E1561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241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E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8D3D4A-25EE-482F-9BC6-021FB98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051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NutShell Cache RTL</a:t>
            </a:r>
          </a:p>
          <a:p xmlns:a="http://schemas.openxmlformats.org/drawingml/2006/main">
            <a:pPr algn="ctr">
              <a:def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Verilator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C0F556-08C5-4979-B989-3660C25E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5240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071C42">
              <a:alpha val="92000"/>
            </a:srgbClr>
          </a:solidFill>
          <a:ln xmlns:a="http://schemas.openxmlformats.org/drawingml/2006/main" w="9525">
            <a:solidFill>
              <a:srgbClr val="18B7A0">
                <a:alpha val="7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6DA00D-0FA9-40F2-801F-30F1B5CB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Monitor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CF0636-4F9B-4F4B-885D-0EFE70FC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F80C32-747D-4158-9131-0DDED265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051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response · memory</a:t>
            </a:r>
          </a:p>
          <a:p xmlns:a="http://schemas.openxmlformats.org/drawingml/2006/main">
            <a:pPr algn="ctr">
              <a:def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victim · probe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7DED0E-1C60-4498-8317-CD2B9CA6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15240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071C42">
              <a:alpha val="92000"/>
            </a:srgbClr>
          </a:solidFill>
          <a:ln xmlns:a="http://schemas.openxmlformats.org/drawingml/2006/main" w="9525">
            <a:solidFill>
              <a:srgbClr val="42D392">
                <a:alpha val="7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AFD713-E0A9-424A-A59C-09DCF67B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Scoreboard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BE9333-15FF-4B58-9B68-7FC0E9DD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241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09F435-AD70-4705-9BCE-2EEED67A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独立 byte-mask</a:t>
            </a:r>
          </a:p>
          <a:p xmlns:a="http://schemas.openxmlformats.org/drawingml/2006/main">
            <a:pPr algn="ctr">
              <a:def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reference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D1C751-C01E-4660-86D7-DDDE2F98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71700"/>
            <a:ext cx="15240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071C42">
              <a:alpha val="92000"/>
            </a:srgbClr>
          </a:solidFill>
          <a:ln xmlns:a="http://schemas.openxmlformats.org/drawingml/2006/main" w="9525">
            <a:solidFill>
              <a:srgbClr val="42D392">
                <a:alpha val="7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CFAD19-17BF-469B-B408-69707BAE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62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Coverage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F59413-4DDB-413D-9760-9472BAF1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241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A484EC-2937-4B7D-8033-B1C847AF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051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36 points</a:t>
            </a:r>
          </a:p>
          <a:p xmlns:a="http://schemas.openxmlformats.org/drawingml/2006/main">
            <a:pPr algn="ctr">
              <a:def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source trace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5F9999-2105-4C8B-ACE9-5696C8D6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7105650" cy="1752600"/>
          </a:xfrm>
          <a:prstGeom xmlns:a="http://schemas.openxmlformats.org/drawingml/2006/main" prst="roundRect">
            <a:avLst>
              <a:gd name="adj" fmla="val 1087"/>
            </a:avLst>
          </a:prstGeom>
          <a:solidFill xmlns:a="http://schemas.openxmlformats.org/drawingml/2006/main">
            <a:srgbClr val="F7FAFE">
              <a:alpha val="95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4B46C3-8AEB-432E-A272-3BBDA376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2425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2074C5-EA59-4497-B0A8-A5A6340F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33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可观察事件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37995E-82C6-42BB-B5C1-B856FB2D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952625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5DA0">
              <a:alpha val="16000"/>
            </a:srgbClr>
          </a:solidFill>
          <a:ln xmlns:a="http://schemas.openxmlformats.org/drawingml/2006/main" w="9525">
            <a:solidFill>
              <a:srgbClr val="145DA0">
                <a:alpha val="65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910188-CCCC-41D5-9FF4-D7757725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1800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5D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5DA0"/>
                </a:solidFill>
                <a:latin typeface="Microsoft YaHei"/>
                <a:ea typeface="Microsoft YaHei"/>
                <a:cs typeface="Microsoft YaHei"/>
              </a:rPr>
              <a:t>read / write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AE25B9-4CA3-4F59-83AD-C2D4A65E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29150"/>
            <a:ext cx="1952625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3C8E8">
              <a:alpha val="16000"/>
            </a:srgbClr>
          </a:solidFill>
          <a:ln xmlns:a="http://schemas.openxmlformats.org/drawingml/2006/main" w="9525">
            <a:solidFill>
              <a:srgbClr val="23C8E8">
                <a:alpha val="65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6D77E0-19FA-45E6-A239-8AA099CB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76775"/>
            <a:ext cx="1800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refill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CA50DD-D158-4286-A4A7-26AEBABD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29150"/>
            <a:ext cx="1952625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8F4B">
              <a:alpha val="16000"/>
            </a:srgbClr>
          </a:solidFill>
          <a:ln xmlns:a="http://schemas.openxmlformats.org/drawingml/2006/main" w="9525">
            <a:solidFill>
              <a:srgbClr val="F18F4B">
                <a:alpha val="65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285070-5E2D-442F-8DAA-230D732B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76775"/>
            <a:ext cx="1800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18F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18F4B"/>
                </a:solidFill>
                <a:latin typeface="Microsoft YaHei"/>
                <a:ea typeface="Microsoft YaHei"/>
                <a:cs typeface="Microsoft YaHei"/>
              </a:rPr>
              <a:t>writeback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9D371D-FD3A-4C72-B0ED-187B50DB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952625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BE4F">
              <a:alpha val="16000"/>
            </a:srgbClr>
          </a:solidFill>
          <a:ln xmlns:a="http://schemas.openxmlformats.org/drawingml/2006/main" w="9525">
            <a:solidFill>
              <a:srgbClr val="F4BE4F">
                <a:alpha val="65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F7AAED-8C95-4EE1-88A1-366220CB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2075"/>
            <a:ext cx="1800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rPr>
              <a:t>victim way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3FDC0D-823A-4665-AD51-5532C586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24450"/>
            <a:ext cx="1952625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8B7A0">
              <a:alpha val="16000"/>
            </a:srgbClr>
          </a:solidFill>
          <a:ln xmlns:a="http://schemas.openxmlformats.org/drawingml/2006/main" w="9525">
            <a:solidFill>
              <a:srgbClr val="18B7A0">
                <a:alpha val="65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D137D0-44C6-4A3D-8E6E-C6B5ADD0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72075"/>
            <a:ext cx="1800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B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8B7A0"/>
                </a:solidFill>
                <a:latin typeface="Microsoft YaHei"/>
                <a:ea typeface="Microsoft YaHei"/>
                <a:cs typeface="Microsoft YaHei"/>
              </a:rPr>
              <a:t>coherence probe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757528-6DD5-4ADA-BE7B-6AC6FCAA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24450"/>
            <a:ext cx="1952625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2D392">
              <a:alpha val="16000"/>
            </a:srgbClr>
          </a:solidFill>
          <a:ln xmlns:a="http://schemas.openxmlformats.org/drawingml/2006/main" w="9525">
            <a:solidFill>
              <a:srgbClr val="42D392">
                <a:alpha val="65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79E6A2-DFDF-4B67-ACA8-F0241AF0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72075"/>
            <a:ext cx="1800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io_empty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1A30A4-5979-475C-9C28-F1EAFCB8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257550" cy="1752600"/>
          </a:xfrm>
          <a:prstGeom xmlns:a="http://schemas.openxmlformats.org/drawingml/2006/main" prst="roundRect">
            <a:avLst>
              <a:gd name="adj" fmla="val 1087"/>
            </a:avLst>
          </a:prstGeom>
          <a:solidFill xmlns:a="http://schemas.openxmlformats.org/drawingml/2006/main">
            <a:srgbClr val="071C42">
              <a:alpha val="94000"/>
            </a:srgbClr>
          </a:solidFill>
          <a:ln xmlns:a="http://schemas.openxmlformats.org/drawingml/2006/main" w="9525">
            <a:solidFill>
              <a:srgbClr val="6EA4D2">
                <a:alpha val="55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3DF853-1BDE-483F-9550-795F53FE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5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判定门槛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CD1EDB-0C32-44F6-9CFA-210F64AC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291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覆盖闭环 = 36 / 36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Scoreboard failure = 0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每个命中保留 source trace</a:t>
            </a:r>
          </a:p>
        </p:txBody>
      </p:sp>
    </p:spTree>
    <p:extLst>
      <p:ext uri="{BB962C8B-B14F-4D97-AF65-F5344CB8AC3E}">
        <p14:creationId xmlns:p14="http://schemas.microsoft.com/office/powerpoint/2010/main" val="4895690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7b9db49294b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AB2DE-7FF0-4D27-9D70-B1AC1036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4F75E-FEF8-4005-A1E4-A2B8D3DF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02 研究方案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D4D39-629D-4916-A840-14C321EA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场景矩阵同时覆盖数据、替换、一致性与时序风险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AEA68-1E02-493C-A349-6AE71BB8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BE0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35723-1F95-48C3-A48B-7D47D866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9315C-E147-4A72-9206-26352AF4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CacheSage-UC · NutShell Cache 自动化验证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5E2FC-4597-4C04-BB38-A0C691E8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7905750" cy="4095750"/>
          </a:xfrm>
          <a:prstGeom xmlns:a="http://schemas.openxmlformats.org/drawingml/2006/main" prst="roundRect">
            <a:avLst>
              <a:gd name="adj" fmla="val 465"/>
            </a:avLst>
          </a:prstGeom>
          <a:solidFill xmlns:a="http://schemas.openxmlformats.org/drawingml/2006/main">
            <a:srgbClr val="F7FAFE">
              <a:alpha val="96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BF42F-0478-4BC0-9922-21B8EF94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数据路径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D4FB0-13F4-4135-B3DA-B58F8208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5265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AF9D9-3D1D-474A-908D-8652FF66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050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6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5627F"/>
                </a:solidFill>
                <a:latin typeface="Microsoft YaHei"/>
                <a:ea typeface="Microsoft YaHei"/>
                <a:cs typeface="Microsoft YaHei"/>
              </a:rPr>
              <a:t>read/write hit · miss/refill · read-after-write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E654B-EADE-40E1-8E24-A7ED6010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8763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3C8E8">
              <a:alpha val="16000"/>
            </a:srgbClr>
          </a:solidFill>
          <a:ln xmlns:a="http://schemas.openxmlformats.org/drawingml/2006/main" w="9525">
            <a:solidFill>
              <a:srgbClr val="23C8E8">
                <a:alpha val="65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F5563-214B-488B-AA84-70BDE2D4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336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5 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1BB54-5717-4DE0-8AC1-3A89B572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731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8E949-87FD-4E85-B1A9-BFC379CE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写掩码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0BE33-61BD-4532-AC9C-D5862596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7655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EB96B-F7C0-45C1-B5A2-3C321117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289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6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5627F"/>
                </a:solidFill>
                <a:latin typeface="Microsoft YaHei"/>
                <a:ea typeface="Microsoft YaHei"/>
                <a:cs typeface="Microsoft YaHei"/>
              </a:rPr>
              <a:t>full · low/high partial · sparse mask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7C834-8FEC-4894-A585-8BABA589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9875"/>
            <a:ext cx="8763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5DA0">
              <a:alpha val="16000"/>
            </a:srgbClr>
          </a:solidFill>
          <a:ln xmlns:a="http://schemas.openxmlformats.org/drawingml/2006/main" w="9525">
            <a:solidFill>
              <a:srgbClr val="145DA0">
                <a:alpha val="65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B888B-BA9A-4BFC-9B47-AFE55740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75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5D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5DA0"/>
                </a:solidFill>
                <a:latin typeface="Microsoft YaHei"/>
                <a:ea typeface="Microsoft YaHei"/>
                <a:cs typeface="Microsoft YaHei"/>
              </a:rPr>
              <a:t>4 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D7B5C-0620-476E-BB74-D3B0EBBC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731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DFA261-0909-43FE-9485-EF432B12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替换策略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29321-1010-4C68-AC37-2B8A5D0B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E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733545-A068-4119-BB98-3CBF1E65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528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6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5627F"/>
                </a:solidFill>
                <a:latin typeface="Microsoft YaHei"/>
                <a:ea typeface="Microsoft YaHei"/>
                <a:cs typeface="Microsoft YaHei"/>
              </a:rPr>
              <a:t>4-way fill · same-set pressure · clean/dirty eviction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9CA27D-D88A-4822-9F45-813D2EBE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33775"/>
            <a:ext cx="8763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BE4F">
              <a:alpha val="16000"/>
            </a:srgbClr>
          </a:solidFill>
          <a:ln xmlns:a="http://schemas.openxmlformats.org/drawingml/2006/main" w="9525">
            <a:solidFill>
              <a:srgbClr val="F4BE4F">
                <a:alpha val="65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709423-E377-47C4-AFAF-9083E08E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814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rPr>
              <a:t>9 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6B42CC-DD4E-4514-90AD-F9676677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731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0A18B6-34DA-480F-BB9B-4472686A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一致性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5D6370-6D95-4F86-94BC-070DD6D3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2435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89658-5F89-4D06-8D1A-C8DDE359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767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6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5627F"/>
                </a:solidFill>
                <a:latin typeface="Microsoft YaHei"/>
                <a:ea typeface="Microsoft YaHei"/>
                <a:cs typeface="Microsoft YaHei"/>
              </a:rPr>
              <a:t>probe miss · clean/dirty hit · data return · reaccess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5F4C63-CA86-4234-84FF-DA8E6A93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57675"/>
            <a:ext cx="8763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8B7A0">
              <a:alpha val="16000"/>
            </a:srgbClr>
          </a:solidFill>
          <a:ln xmlns:a="http://schemas.openxmlformats.org/drawingml/2006/main" w="9525">
            <a:solidFill>
              <a:srgbClr val="18B7A0">
                <a:alpha val="65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5F511F-42A2-445C-955F-5D9EC4D5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053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B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8B7A0"/>
                </a:solidFill>
                <a:latin typeface="Microsoft YaHei"/>
                <a:ea typeface="Microsoft YaHei"/>
                <a:cs typeface="Microsoft YaHei"/>
              </a:rPr>
              <a:t>7 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E4B632-B4AD-434A-A4AB-D71F028F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731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3E5B4B-5BF9-48BB-BE61-10DD3A38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时序控制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010822-1DC8-40FF-B37A-1D5F401D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4825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5A46CB-AE2E-4C40-9E38-47D52056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00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6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5627F"/>
                </a:solidFill>
                <a:latin typeface="Microsoft YaHei"/>
                <a:ea typeface="Microsoft YaHei"/>
                <a:cs typeface="Microsoft YaHei"/>
              </a:rPr>
              <a:t>memory latency · reset recovery · io_empty · backpressure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20FCDE-4216-4205-9E6F-05FC2A55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81575"/>
            <a:ext cx="8763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2D392">
              <a:alpha val="16000"/>
            </a:srgbClr>
          </a:solidFill>
          <a:ln xmlns:a="http://schemas.openxmlformats.org/drawingml/2006/main" w="9525">
            <a:solidFill>
              <a:srgbClr val="42D392">
                <a:alpha val="65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ED53A1-DA91-4EA5-ACF4-72E2B999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29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11 类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CF0B3F-AA91-4563-8529-5C9A1FE6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667000" cy="2609850"/>
          </a:xfrm>
          <a:prstGeom xmlns:a="http://schemas.openxmlformats.org/drawingml/2006/main" prst="roundRect">
            <a:avLst>
              <a:gd name="adj" fmla="val 730"/>
            </a:avLst>
          </a:prstGeom>
          <a:solidFill xmlns:a="http://schemas.openxmlformats.org/drawingml/2006/main">
            <a:srgbClr val="071C42">
              <a:alpha val="94000"/>
            </a:srgbClr>
          </a:solidFill>
          <a:ln xmlns:a="http://schemas.openxmlformats.org/drawingml/2006/main" w="9525">
            <a:solidFill>
              <a:srgbClr val="6EA4D2">
                <a:alpha val="55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A7058E-59D0-42FD-B102-411BF9C3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真实 RTL 覆盖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5E46B0-9246-4FA5-B258-BE99E812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217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36/36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399EB7-4B62-4AC8-9648-C41F6E97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956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100.00%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4074BF-EB38-4CF4-8CEC-B1262044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671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闭环：36/36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800821-349A-441E-9EA0-F9C87CD9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10100"/>
            <a:ext cx="2667000" cy="1276350"/>
          </a:xfrm>
          <a:prstGeom xmlns:a="http://schemas.openxmlformats.org/drawingml/2006/main" prst="roundRect">
            <a:avLst>
              <a:gd name="adj" fmla="val 1493"/>
            </a:avLst>
          </a:prstGeom>
          <a:solidFill xmlns:a="http://schemas.openxmlformats.org/drawingml/2006/main">
            <a:srgbClr val="FFF8E8">
              <a:alpha val="96000"/>
            </a:srgbClr>
          </a:solidFill>
          <a:ln xmlns:a="http://schemas.openxmlformats.org/drawingml/2006/main" w="9525">
            <a:solidFill>
              <a:srgbClr val="F4BE4F">
                <a:alpha val="80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452EB2-F89A-4D23-A462-B4139F5D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006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真实握手闭环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B4DB41-8042-49D6-BB34-792AC0C9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625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6C5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206C57"/>
                </a:solidFill>
                <a:latin typeface="Cascadia Mono"/>
                <a:ea typeface="Cascadia Mono"/>
                <a:cs typeface="Cascadia Mono"/>
              </a:rPr>
              <a:t>IN  2 cycles</a:t>
            </a:r>
          </a:p>
          <a:p xmlns:a="http://schemas.openxmlformats.org/drawingml/2006/main">
            <a:pPr algn="l">
              <a:defRPr sz="1050" b="0">
                <a:solidFill>
                  <a:srgbClr val="206C5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206C57"/>
                </a:solidFill>
                <a:latin typeface="Cascadia Mono"/>
                <a:ea typeface="Cascadia Mono"/>
                <a:cs typeface="Cascadia Mono"/>
              </a:rPr>
              <a:t>OUT 3 cycles</a:t>
            </a:r>
          </a:p>
        </p:txBody>
      </p:sp>
    </p:spTree>
    <p:extLst>
      <p:ext uri="{BB962C8B-B14F-4D97-AF65-F5344CB8AC3E}">
        <p14:creationId xmlns:p14="http://schemas.microsoft.com/office/powerpoint/2010/main" val="17029052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5a19ce65340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E86BA-F2DA-4F75-8BEB-C91E355D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6495A-BBD3-4368-9E11-0819AFF1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03 实测结果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AEE55-6483-4189-A99C-F0CA106C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Linux 工具链已经完成 Picker—Toffee—Verilator 实测闭环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AE170-1FE4-43E6-99EF-385B3B7A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BE0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F233A-6B78-40E2-B533-E2B77820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25CD4-8FC4-4CB4-B063-A4DA6B30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CacheSage-UC · NutShell Cache 自动化验证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E3685-4335-402D-8614-D5320854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5962650" cy="3752850"/>
          </a:xfrm>
          <a:prstGeom xmlns:a="http://schemas.openxmlformats.org/drawingml/2006/main" prst="roundRect">
            <a:avLst>
              <a:gd name="adj" fmla="val 508"/>
            </a:avLst>
          </a:prstGeom>
          <a:solidFill xmlns:a="http://schemas.openxmlformats.org/drawingml/2006/main">
            <a:srgbClr val="04152F">
              <a:alpha val="95000"/>
            </a:srgbClr>
          </a:solidFill>
          <a:ln xmlns:a="http://schemas.openxmlformats.org/drawingml/2006/main" w="9525">
            <a:solidFill>
              <a:srgbClr val="6EA4D2">
                <a:alpha val="6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8B17F-B6E0-4CDF-B8F5-72F46419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C8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23C8E8"/>
                </a:solidFill>
                <a:latin typeface="Cascadia Mono"/>
                <a:ea typeface="Cascadia Mono"/>
                <a:cs typeface="Cascadia Mono"/>
              </a:rPr>
              <a:t>Ubuntu 24.04 / WSL2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1DCEA-9F0C-4A94-9557-F8151442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9F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DE9F6"/>
                </a:solidFill>
                <a:latin typeface="Cascadia Mono"/>
                <a:ea typeface="Cascadia Mono"/>
                <a:cs typeface="Cascadia Mono"/>
              </a:rPr>
              <a:t>$ make gen_dut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2C221-05D8-4173-B7B2-5B7000EC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BE4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4BE4F"/>
                </a:solidFill>
                <a:latin typeface="Cascadia Mono"/>
                <a:ea typeface="Cascadia Mono"/>
                <a:cs typeface="Cascadia Mono"/>
              </a:rPr>
              <a:t>[100%] Built target UT_Cache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A7E7E-A1DB-488D-A83D-4F38C863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9F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DE9F6"/>
                </a:solidFill>
                <a:latin typeface="Cascadia Mono"/>
                <a:ea typeface="Cascadia Mono"/>
                <a:cs typeface="Cascadia Mono"/>
              </a:rPr>
              <a:t>$ python scripts/run_rtl_regression.py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C70F7-C44F-47AE-9938-40D15FA5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9F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DE9F6"/>
                </a:solidFill>
                <a:latin typeface="Cascadia Mono"/>
                <a:ea typeface="Cascadia Mono"/>
                <a:cs typeface="Cascadia Mono"/>
              </a:rPr>
              <a:t>directed-complete transactions=16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F1069-9A40-4704-863F-9F17F199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9F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DE9F6"/>
                </a:solidFill>
                <a:latin typeface="Cascadia Mono"/>
                <a:ea typeface="Cascadia Mono"/>
                <a:cs typeface="Cascadia Mono"/>
              </a:rPr>
              <a:t>seed-11/29/73 progress=128/128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5D7E4-F97D-4E79-97D1-30B21ACA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392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42D392"/>
                </a:solidFill>
                <a:latin typeface="Cascadia Mono"/>
                <a:ea typeface="Cascadia Mono"/>
                <a:cs typeface="Cascadia Mono"/>
              </a:rPr>
              <a:t>PASSED  RTL 36/36  Scoreboard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4ACEE-6F8E-4852-B61B-45052E2A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451485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7FAFE">
              <a:alpha val="96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9EE41-DBAC-45C6-86DE-1D865507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716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D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5DA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553EE-AC5D-462D-8D73-DFC23F64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33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锁定上游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1209A-F0FA-4F52-920B-D6281E84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193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C68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C6884"/>
                </a:solidFill>
                <a:latin typeface="Microsoft YaHei"/>
                <a:ea typeface="Microsoft YaHei"/>
                <a:cs typeface="Microsoft YaHei"/>
              </a:rPr>
              <a:t>commit cdc9ef7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01F22-30A6-4F4C-A175-4D4F0546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527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2A2378-6BA5-48D2-815F-97A014B0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62250"/>
            <a:ext cx="451485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7FAFE">
              <a:alpha val="96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C7BA2-60C8-4586-B9F6-BFD8487E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241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7F302-3BFA-411F-BDEA-1E05AF41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860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Picker export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6108E8-3BD1-4CB7-AA1F-142DCD34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71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C68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C6884"/>
                </a:solidFill>
                <a:latin typeface="Microsoft YaHei"/>
                <a:ea typeface="Microsoft YaHei"/>
                <a:cs typeface="Microsoft YaHei"/>
              </a:rPr>
              <a:t>DUT + FST + coverage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B4906D-C448-4175-9527-97852D22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52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8E8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DE1875-73DB-4613-9658-215A1B22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451485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7FAFE">
              <a:alpha val="96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55D36B-A6AC-4C89-80F0-187BB674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766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B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B7A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50DECF-0B3F-434F-B4CB-759030B5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38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Toffee 回归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01D8F3-B480-422E-A524-FE8EB3E9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243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C68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C6884"/>
                </a:solidFill>
                <a:latin typeface="Microsoft YaHei"/>
                <a:ea typeface="Microsoft YaHei"/>
                <a:cs typeface="Microsoft YaHei"/>
              </a:rPr>
              <a:t>directed + 3 seeds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DAFCD0-E0C1-4AEB-B87F-FFDAF22C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77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0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3DBBFB-AA0F-4203-BF8E-EFC82F62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67250"/>
            <a:ext cx="451485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7FAFE">
              <a:alpha val="96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04BD3B-64F8-4D47-B7D2-7C0B4EDB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291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D7AE89-65A4-42A2-9BA0-81718CE3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910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证据导出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EB9E9D-0E40-41EB-9CE6-0944C6C3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76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C68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C6884"/>
                </a:solidFill>
                <a:latin typeface="Microsoft YaHei"/>
                <a:ea typeface="Microsoft YaHei"/>
                <a:cs typeface="Microsoft YaHei"/>
              </a:rPr>
              <a:t>JSON / Markdown / manifest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136781-1B86-4E95-893A-CCADC6E5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10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 DUT 事务 437 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E0862D-3955-412F-837B-7A1E6413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8102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构建与测试均 exit 0</a:t>
            </a:r>
          </a:p>
        </p:txBody>
      </p:sp>
    </p:spTree>
    <p:extLst>
      <p:ext uri="{BB962C8B-B14F-4D97-AF65-F5344CB8AC3E}">
        <p14:creationId xmlns:p14="http://schemas.microsoft.com/office/powerpoint/2010/main" val="17184433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116e642994f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9A8A5-24EE-4DFA-8C0F-FE2A5F57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6A147-CD6B-4756-9CA1-F269C9FD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03 实测结果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25CC8-B44E-491C-B9D0-0B65B839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三类覆盖率分栏度量，功能覆盖与代码覆盖不混写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603C5-27AD-4884-A1EB-23F312E6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BE0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C25CC-91C6-49B7-AAF1-B0173B40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8C09D-44DC-48D4-9264-96568806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CacheSage-UC · NutShell Cache 自动化验证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B759A-B084-44B8-9A1E-9795C19C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7067550" cy="3943350"/>
          </a:xfrm>
          <a:prstGeom xmlns:a="http://schemas.openxmlformats.org/drawingml/2006/main" prst="roundRect">
            <a:avLst>
              <a:gd name="adj" fmla="val 483"/>
            </a:avLst>
          </a:prstGeom>
          <a:solidFill xmlns:a="http://schemas.openxmlformats.org/drawingml/2006/main">
            <a:srgbClr val="F7FAFE">
              <a:alpha val="96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990600" y="2247900"/>
          <a:ext xmlns:a="http://schemas.openxmlformats.org/drawingml/2006/main" cx="6343650" cy="2971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c28187eb31439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2D62A-8FF0-4EAE-9EA8-DFC34BB1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344805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081D43">
              <a:alpha val="88000"/>
            </a:srgbClr>
          </a:solidFill>
          <a:ln xmlns:a="http://schemas.openxmlformats.org/drawingml/2006/main" w="9525">
            <a:solidFill>
              <a:srgbClr val="6EA4D2">
                <a:alpha val="55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B54C0-AEDC-4120-9D7D-FC65C057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23/23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A4078-FA38-4110-B00D-F9579DC4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Python harness functional 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D81EB-E4A9-4896-AB1C-3D4C5315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344805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081D43">
              <a:alpha val="88000"/>
            </a:srgbClr>
          </a:solidFill>
          <a:ln xmlns:a="http://schemas.openxmlformats.org/drawingml/2006/main" w="9525">
            <a:solidFill>
              <a:srgbClr val="6EA4D2">
                <a:alpha val="55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FE741-5843-49AF-83F8-A60FC514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623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36/36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43F0F-0C65-4630-B901-92F69674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766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真实 RTL functional 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8ECCE-519D-4B5F-90C2-723F5A13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344805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081D43">
              <a:alpha val="88000"/>
            </a:srgbClr>
          </a:solidFill>
          <a:ln xmlns:a="http://schemas.openxmlformats.org/drawingml/2006/main" w="9525">
            <a:solidFill>
              <a:srgbClr val="6EA4D2">
                <a:alpha val="55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AFA27-E1EB-4565-8B98-5ED269AA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rPr>
              <a:t>898/1454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60FAF-7234-4853-ACBE-6A894032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149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Verilator code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B377E-8180-42C3-8EBB-B281774A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8966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71A3D">
              <a:alpha val="92000"/>
            </a:srgbClr>
          </a:solidFill>
          <a:ln xmlns:a="http://schemas.openxmlformats.org/drawingml/2006/main" w="9525">
            <a:solidFill>
              <a:srgbClr val="6EA4D2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B705B-BF4F-4007-B3B3-0E9ACFC6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1051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Scoreboard：207 次独立比较，0 个失败；功能覆盖 36/36，背压证据来自 io_in_* 握手。</a:t>
            </a:r>
          </a:p>
        </p:txBody>
      </p:sp>
    </p:spTree>
    <p:extLst>
      <p:ext uri="{BB962C8B-B14F-4D97-AF65-F5344CB8AC3E}">
        <p14:creationId xmlns:p14="http://schemas.microsoft.com/office/powerpoint/2010/main" val="173339053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685e4956c48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73034-C96B-4B9D-8A24-8C1E077A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E5ABE-07D5-4311-BF22-CF822863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03 实测结果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62258-1B77-4455-B4BA-4CE2E271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故障注入用于证明验证环境能检错，而不是制造漂亮数字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7090E-1F45-4D70-98E8-87423746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BE0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D7527-AA38-4DE0-83A3-ECB9EEA3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CE2B8-3599-404E-9540-0AC11C00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CacheSage-UC · NutShell Cache 自动化验证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249B0-4218-41AB-A178-5DD81E80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8096250" cy="3943350"/>
          </a:xfrm>
          <a:prstGeom xmlns:a="http://schemas.openxmlformats.org/drawingml/2006/main" prst="roundRect">
            <a:avLst>
              <a:gd name="adj" fmla="val 483"/>
            </a:avLst>
          </a:prstGeom>
          <a:solidFill xmlns:a="http://schemas.openxmlformats.org/drawingml/2006/main">
            <a:srgbClr val="F7FAFE">
              <a:alpha val="96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37159-983B-4B39-8247-6860E96F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A7694"/>
                </a:solidFill>
                <a:latin typeface="Microsoft YaHei"/>
                <a:ea typeface="Microsoft YaHei"/>
                <a:cs typeface="Microsoft YaHei"/>
              </a:rPr>
              <a:t>故障模式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3755E-6A65-4D06-9F76-9816C83C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81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A7694"/>
                </a:solidFill>
                <a:latin typeface="Microsoft YaHei"/>
                <a:ea typeface="Microsoft YaHei"/>
                <a:cs typeface="Microsoft YaHei"/>
              </a:rPr>
              <a:t>注入行为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FFA1D-9868-4F14-ADCE-A2EB6FF5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A7694"/>
                </a:solidFill>
                <a:latin typeface="Microsoft YaHei"/>
                <a:ea typeface="Microsoft YaHei"/>
                <a:cs typeface="Microsoft YaHei"/>
              </a:rPr>
              <a:t>确定性判定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082DB-2C7B-4F8D-A685-FC87A1EF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10233F"/>
                </a:solidFill>
                <a:latin typeface="Cascadia Mono"/>
                <a:ea typeface="Cascadia Mono"/>
                <a:cs typeface="Cascadia Mono"/>
              </a:rPr>
              <a:t>drop_dirty_writeback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B4DE5-DDB7-4A5E-8CAC-4611EA86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57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66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6627F"/>
                </a:solidFill>
                <a:latin typeface="Microsoft YaHei"/>
                <a:ea typeface="Microsoft YaHei"/>
                <a:cs typeface="Microsoft YaHei"/>
              </a:rPr>
              <a:t>脏行未写回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8DBD9-E93B-48E9-871A-DEFFDB4E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09825"/>
            <a:ext cx="22479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6D75">
              <a:alpha val="16000"/>
            </a:srgbClr>
          </a:solidFill>
          <a:ln xmlns:a="http://schemas.openxmlformats.org/drawingml/2006/main" w="9525">
            <a:solidFill>
              <a:srgbClr val="F46D75">
                <a:alpha val="6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DAA4A-C3A8-4977-A4D0-84F3F796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6D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6D75"/>
                </a:solidFill>
                <a:latin typeface="Microsoft YaHei"/>
                <a:ea typeface="Microsoft YaHei"/>
                <a:cs typeface="Microsoft YaHei"/>
              </a:rPr>
              <a:t>final memory mismatch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82506-DDB4-4CC6-B8A7-9EE9A281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A28CB-566E-40CB-B004-E296070B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10233F"/>
                </a:solidFill>
                <a:latin typeface="Cascadia Mono"/>
                <a:ea typeface="Cascadia Mono"/>
                <a:cs typeface="Cascadia Mono"/>
              </a:rPr>
              <a:t>ignore_write_mask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AF2D1-95F6-4E3C-9C78-549440B5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66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6627F"/>
                </a:solidFill>
                <a:latin typeface="Microsoft YaHei"/>
                <a:ea typeface="Microsoft YaHei"/>
                <a:cs typeface="Microsoft YaHei"/>
              </a:rPr>
              <a:t>忽略 byte mask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53739-2E9D-4071-B6A0-6489A734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38475"/>
            <a:ext cx="22479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8F4B">
              <a:alpha val="16000"/>
            </a:srgbClr>
          </a:solidFill>
          <a:ln xmlns:a="http://schemas.openxmlformats.org/drawingml/2006/main" w="9525">
            <a:solidFill>
              <a:srgbClr val="F18F4B">
                <a:alpha val="6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A8CAF-5E4C-47AA-9B45-A9A2E5F6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18F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18F4B"/>
                </a:solidFill>
                <a:latin typeface="Microsoft YaHei"/>
                <a:ea typeface="Microsoft YaHei"/>
                <a:cs typeface="Microsoft YaHei"/>
              </a:rPr>
              <a:t>masked data mismatch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5DA3F-F69B-4F4A-8605-C51DEE33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D9F6A-C0A7-4143-900F-70491BF9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10233F"/>
                </a:solidFill>
                <a:latin typeface="Cascadia Mono"/>
                <a:ea typeface="Cascadia Mono"/>
                <a:cs typeface="Cascadia Mono"/>
              </a:rPr>
              <a:t>stuck_replacement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2AEFAF-9F24-4DF4-83FA-346580BC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14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66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6627F"/>
                </a:solidFill>
                <a:latin typeface="Microsoft YaHei"/>
                <a:ea typeface="Microsoft YaHei"/>
                <a:cs typeface="Microsoft YaHei"/>
              </a:rPr>
              <a:t>替换状态停滞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EAB88-4247-4B18-8C18-36D35705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67125"/>
            <a:ext cx="22479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BE4F">
              <a:alpha val="16000"/>
            </a:srgbClr>
          </a:solidFill>
          <a:ln xmlns:a="http://schemas.openxmlformats.org/drawingml/2006/main" w="9525">
            <a:solidFill>
              <a:srgbClr val="F4BE4F">
                <a:alpha val="65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E0261A-A35D-4F53-9FB5-C8DA3B06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rPr>
              <a:t>victim memory mismatch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2CEE2-E111-42EF-B81B-C15546DC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2456E7-64F3-49DF-B133-CB2C534E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10233F"/>
                </a:solidFill>
                <a:latin typeface="Cascadia Mono"/>
                <a:ea typeface="Cascadia Mono"/>
                <a:cs typeface="Cascadia Mono"/>
              </a:rPr>
              <a:t>refill_shift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7E4AD-CBBD-4D82-9386-6351B077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43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66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6627F"/>
                </a:solidFill>
                <a:latin typeface="Microsoft YaHei"/>
                <a:ea typeface="Microsoft YaHei"/>
                <a:cs typeface="Microsoft YaHei"/>
              </a:rPr>
              <a:t>refill beat 偏移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423B8B-293A-4053-B56C-EC0A22DC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95775"/>
            <a:ext cx="22479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3C8E8">
              <a:alpha val="16000"/>
            </a:srgbClr>
          </a:solidFill>
          <a:ln xmlns:a="http://schemas.openxmlformats.org/drawingml/2006/main" w="9525">
            <a:solidFill>
              <a:srgbClr val="23C8E8">
                <a:alpha val="65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468D79-E2CD-4498-B16E-D4917057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alignment mismatch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899A24-0680-40FC-8B0A-B678B8A7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BCD2ED-AAD4-49BE-9FF8-27D69154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10233F"/>
                </a:solidFill>
                <a:latin typeface="Cascadia Mono"/>
                <a:ea typeface="Cascadia Mono"/>
                <a:cs typeface="Cascadia Mono"/>
              </a:rPr>
              <a:t>unstable_under_stall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E37CC1-DC70-4C84-81B4-1ED2DECA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72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66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6627F"/>
                </a:solidFill>
                <a:latin typeface="Microsoft YaHei"/>
                <a:ea typeface="Microsoft YaHei"/>
                <a:cs typeface="Microsoft YaHei"/>
              </a:rPr>
              <a:t>stall 期间不稳定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18BAF1-E861-46AB-974D-B19FAC51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24425"/>
            <a:ext cx="22479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8B7A0">
              <a:alpha val="16000"/>
            </a:srgbClr>
          </a:solidFill>
          <a:ln xmlns:a="http://schemas.openxmlformats.org/drawingml/2006/main" w="9525">
            <a:solidFill>
              <a:srgbClr val="18B7A0">
                <a:alpha val="65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2252A9-B6AB-482E-AEC8-C4DEF703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72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B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8B7A0"/>
                </a:solidFill>
                <a:latin typeface="Microsoft YaHei"/>
                <a:ea typeface="Microsoft YaHei"/>
                <a:cs typeface="Microsoft YaHei"/>
              </a:rPr>
              <a:t>response mismatch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ABA4F8-F5DB-4B11-962F-2D3DD497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90700"/>
            <a:ext cx="2476500" cy="2400300"/>
          </a:xfrm>
          <a:prstGeom xmlns:a="http://schemas.openxmlformats.org/drawingml/2006/main" prst="roundRect">
            <a:avLst>
              <a:gd name="adj" fmla="val 794"/>
            </a:avLst>
          </a:prstGeom>
          <a:solidFill xmlns:a="http://schemas.openxmlformats.org/drawingml/2006/main">
            <a:srgbClr val="071C42">
              <a:alpha val="94000"/>
            </a:srgbClr>
          </a:solidFill>
          <a:ln xmlns:a="http://schemas.openxmlformats.org/drawingml/2006/main" w="9525">
            <a:solidFill>
              <a:srgbClr val="6EA4D2">
                <a:alpha val="55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4C0B54-8A84-43FF-BDC0-E42A4A56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1455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3B2E0A-39E7-488C-B9CE-F338C6E7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384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注入故障均被检出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8AA84B-CE04-41D8-BB46-17A5FD46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3375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E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C2417C-760E-4E48-A361-0A33454D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62350"/>
            <a:ext cx="2019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deterministic seed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可重放失败摘要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关联 artifact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ADA9E7-C603-41B4-89A3-61498691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57700"/>
            <a:ext cx="2476500" cy="1276350"/>
          </a:xfrm>
          <a:prstGeom xmlns:a="http://schemas.openxmlformats.org/drawingml/2006/main" prst="roundRect">
            <a:avLst>
              <a:gd name="adj" fmla="val 1493"/>
            </a:avLst>
          </a:prstGeom>
          <a:solidFill xmlns:a="http://schemas.openxmlformats.org/drawingml/2006/main">
            <a:srgbClr val="FFF8E8">
              <a:alpha val="96000"/>
            </a:srgbClr>
          </a:solidFill>
          <a:ln xmlns:a="http://schemas.openxmlformats.org/drawingml/2006/main" w="9525">
            <a:solidFill>
              <a:srgbClr val="F4BE4F">
                <a:alpha val="75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9BC6DD-4D08-401B-BBF1-9754F9C6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482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A64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A6410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F923BC-4CAD-4E52-BFCF-1399F1CA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482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25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25329"/>
                </a:solidFill>
                <a:latin typeface="Microsoft YaHei"/>
                <a:ea typeface="Microsoft YaHei"/>
                <a:cs typeface="Microsoft YaHei"/>
              </a:rPr>
              <a:t>不声称真实 NutShell RTL</a:t>
            </a:r>
          </a:p>
          <a:p xmlns:a="http://schemas.openxmlformats.org/drawingml/2006/main">
            <a:pPr algn="l">
              <a:defRPr sz="1200" b="1">
                <a:solidFill>
                  <a:srgbClr val="725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25329"/>
                </a:solidFill>
                <a:latin typeface="Microsoft YaHei"/>
                <a:ea typeface="Microsoft YaHei"/>
                <a:cs typeface="Microsoft YaHei"/>
              </a:rPr>
              <a:t>存在对应缺陷</a:t>
            </a:r>
          </a:p>
        </p:txBody>
      </p:sp>
    </p:spTree>
    <p:extLst>
      <p:ext uri="{BB962C8B-B14F-4D97-AF65-F5344CB8AC3E}">
        <p14:creationId xmlns:p14="http://schemas.microsoft.com/office/powerpoint/2010/main" val="4597371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6256b59e14c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BCAD5-E438-43B3-B767-F8C8E52E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00316-0B36-4C14-A16C-C1E2869D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04 协同复核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933A6-653B-4500-9711-4BBFC787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UCAgent 提供构建速度，人工复核决定验证结论是否可信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96397-4279-423C-9394-AB28E41C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BE0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E2FB6-38B1-4C77-84D1-14E19BCB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1DC94-4599-4EDD-A0A0-C2551A91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CacheSage-UC · NutShell Cache 自动化验证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45BF4-794B-4B17-850B-356E2C4C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B6D9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EE3A8-D948-4999-9ED6-7DC592CC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A10FB-65FF-4477-9D5B-3D8177F5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860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C3A5F-A35A-4CF6-88B1-CAD1F54A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962150" cy="190500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071C42">
              <a:alpha val="93000"/>
            </a:srgbClr>
          </a:solidFill>
          <a:ln xmlns:a="http://schemas.openxmlformats.org/drawingml/2006/main" w="9525">
            <a:solidFill>
              <a:srgbClr val="145DA0">
                <a:alpha val="7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111DF-6777-46EA-A659-4C9C3396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DA0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145DA0"/>
                </a:solidFill>
                <a:latin typeface="Cascadia Mono"/>
                <a:ea typeface="Cascadia Mono"/>
                <a:cs typeface="Cascadia Mono"/>
              </a:rPr>
              <a:t>RV-006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5B67C-15F0-483F-AA7F-2207DFD4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参数重构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64DBD-0BED-442B-8F02-733C2365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67B64-B661-4F80-8066-A319AEE6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32-bit 快速模型不能直接映射真实 DUT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45377-5D9B-4A6E-A190-BA45D614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8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AD8B7-D053-4A0E-8F75-E85F7380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860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4D14F-00DC-44E2-928C-EDB14AD3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9900"/>
            <a:ext cx="1962150" cy="190500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071C42">
              <a:alpha val="93000"/>
            </a:srgbClr>
          </a:solidFill>
          <a:ln xmlns:a="http://schemas.openxmlformats.org/drawingml/2006/main" w="9525">
            <a:solidFill>
              <a:srgbClr val="23C8E8">
                <a:alpha val="7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E2A96-FBE8-4447-AFAC-F79BD95E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8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3C8E8"/>
                </a:solidFill>
                <a:latin typeface="Cascadia Mono"/>
                <a:ea typeface="Cascadia Mono"/>
                <a:cs typeface="Cascadia Mono"/>
              </a:rPr>
              <a:t>RV-007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C27503-B6C2-41FA-B4D0-CDD1DA3B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证据纠偏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1AE99-9C18-4A3B-A583-E96914C3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243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66B8C7-8A1A-4C8C-B1F0-3602668D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338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smoke 通过不能替代 RTL functional 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E52FD-21D1-4B09-A226-B5EDB187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A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10895C-49D5-4AA9-836A-CDD75331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860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6F2B69-ED4F-44C0-802B-7C20CD4C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9900"/>
            <a:ext cx="1962150" cy="190500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071C42">
              <a:alpha val="93000"/>
            </a:srgbClr>
          </a:solidFill>
          <a:ln xmlns:a="http://schemas.openxmlformats.org/drawingml/2006/main" w="9525">
            <a:solidFill>
              <a:srgbClr val="18B7A0">
                <a:alpha val="7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803B54-7FEB-4AF3-A3B4-47998C31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813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B7A0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18B7A0"/>
                </a:solidFill>
                <a:latin typeface="Cascadia Mono"/>
                <a:ea typeface="Cascadia Mono"/>
                <a:cs typeface="Cascadia Mono"/>
              </a:rPr>
              <a:t>RV-008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160F72-CA61-4F42-92B7-67588FB4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24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场景扩展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5A68CE-0339-45D1-821D-5821DCE9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243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3D3938-9688-466B-B5D2-EC135D8F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338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加入 victim、memory 与 coherence probe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BCF1D2-092B-4B3F-A025-C01F1680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E4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9CE2EC-763E-4834-8099-99AD777B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860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2EF0F7-B674-4768-87A0-613DE50F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09900"/>
            <a:ext cx="1962150" cy="190500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071C42">
              <a:alpha val="93000"/>
            </a:srgbClr>
          </a:solidFill>
          <a:ln xmlns:a="http://schemas.openxmlformats.org/drawingml/2006/main" w="9525">
            <a:solidFill>
              <a:srgbClr val="F4BE4F">
                <a:alpha val="70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0C9A58-4C28-4FE7-8388-4D1A636D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813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E4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F4BE4F"/>
                </a:solidFill>
                <a:latin typeface="Cascadia Mono"/>
                <a:ea typeface="Cascadia Mono"/>
                <a:cs typeface="Cascadia Mono"/>
              </a:rPr>
              <a:t>RV-009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1DE52B-D67B-4129-AFF0-4FE0DF4E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24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驱动重写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8C6C23-3956-455E-880B-1E13283D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243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E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0752EF-57B6-4E54-AF75-9C34495D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338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发现 data / size 位置参数错位与同源漏检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15795B-9CC9-49D9-B9D4-50168284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85AB03-7195-4B6A-8027-6B6CFDB2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61A3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B4774F-E4AA-488D-9086-9DD95713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9900"/>
            <a:ext cx="1962150" cy="190500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071C42">
              <a:alpha val="93000"/>
            </a:srgbClr>
          </a:solidFill>
          <a:ln xmlns:a="http://schemas.openxmlformats.org/drawingml/2006/main" w="9525">
            <a:solidFill>
              <a:srgbClr val="42D392">
                <a:alpha val="7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C2109A-BE45-40E3-9668-DC8BD8B1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813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D39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2D392"/>
                </a:solidFill>
                <a:latin typeface="Cascadia Mono"/>
                <a:ea typeface="Cascadia Mono"/>
                <a:cs typeface="Cascadia Mono"/>
              </a:rPr>
              <a:t>RV-010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82AB32-69E8-49A0-AA99-6638579E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24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约束修正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71AE40-5D95-4F9D-8D61-9BB49866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243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DA3C9F-8843-414D-B860-CB860514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338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读取 RTL 断言，移除 DCache 非法 flush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C6935D-C3A2-4C78-AB88-2D0CAF50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89660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7FAFE">
              <a:alpha val="96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F6EF86-D9CD-4048-AC1B-E5CE7379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38775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CEBFEE-7EB4-4C41-ACA8-FF160C74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10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记录结构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87E1A4-2AE4-4EE3-AE0D-0FE3221D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91150"/>
            <a:ext cx="901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共 10 条记录：草案摘要 → 人工发现 → 风险判断 → 代码修正 → 指标变化 → 命令与产物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72B4B4-84E1-4C30-B3C5-90B818E6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34050"/>
            <a:ext cx="901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718D"/>
                </a:solidFill>
                <a:latin typeface="Microsoft YaHei"/>
                <a:ea typeface="Microsoft YaHei"/>
                <a:cs typeface="Microsoft YaHei"/>
              </a:rPr>
              <a:t>重建记录与同步记录明确区分，避免事后包装成实时发现。</a:t>
            </a:r>
          </a:p>
        </p:txBody>
      </p:sp>
    </p:spTree>
    <p:extLst>
      <p:ext uri="{BB962C8B-B14F-4D97-AF65-F5344CB8AC3E}">
        <p14:creationId xmlns:p14="http://schemas.microsoft.com/office/powerpoint/2010/main" val="187403959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25a6eb7604e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4B5D4-1273-4F27-9F9C-070997DA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9320F-A238-403B-9313-249BB622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04 评分与复现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166A2-1B1F-4114-99A0-2D439BFC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官方维度逐项链接代码、证据与复现入口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D851A-AD8F-46E4-9A18-86433599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BE0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516A0-EB7F-40AD-A24A-ACFE583E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DBA6D-9E23-4835-8FF4-CB63BD5A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CacheSage-UC · NutShell Cache 自动化验证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CF4FF-DDD6-4A48-9D3B-25C9401C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DA0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5A82F-066C-4832-8B07-74F60E70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717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C8E8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1B0A3-4376-4094-B3FD-878DF4B3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4F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A4B4E-6428-4E2F-9EE1-8306A906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41935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071C42">
              <a:alpha val="93000"/>
            </a:srgbClr>
          </a:solidFill>
          <a:ln xmlns:a="http://schemas.openxmlformats.org/drawingml/2006/main" w="9525">
            <a:solidFill>
              <a:srgbClr val="145DA0">
                <a:alpha val="7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61F33-873F-447E-9A8D-00DBCEE3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源代码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B04F9-820A-4FAA-BEC2-4C7C3C31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241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86327-485B-44EF-9FCD-D230E9BA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E9F6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DDE9F6"/>
                </a:solidFill>
                <a:latin typeface="Cascadia Mono"/>
                <a:ea typeface="Cascadia Mono"/>
                <a:cs typeface="Cascadia Mono"/>
              </a:rPr>
              <a:t>src/ · integration/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F727C-70FA-4EE0-9B2C-6847164F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14550"/>
            <a:ext cx="241935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071C42">
              <a:alpha val="93000"/>
            </a:srgbClr>
          </a:solidFill>
          <a:ln xmlns:a="http://schemas.openxmlformats.org/drawingml/2006/main" w="9525">
            <a:solidFill>
              <a:srgbClr val="23C8E8">
                <a:alpha val="7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B78A0-F2ED-48A8-AD21-1E687A7F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241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9F6A6-9DDB-4CB9-861F-54F58068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241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47AC0F-EC78-496D-A47D-B2555CF2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146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E9F6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DDE9F6"/>
                </a:solidFill>
                <a:latin typeface="Cascadia Mono"/>
                <a:ea typeface="Cascadia Mono"/>
                <a:cs typeface="Cascadia Mono"/>
              </a:rPr>
              <a:t>JSON · FST · coverage.dat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865F6-34F0-4350-A8E4-7398E903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241935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071C42">
              <a:alpha val="93000"/>
            </a:srgbClr>
          </a:solidFill>
          <a:ln xmlns:a="http://schemas.openxmlformats.org/drawingml/2006/main" w="9525">
            <a:solidFill>
              <a:srgbClr val="F4BE4F">
                <a:alpha val="7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CD2E7E-37C5-4A4E-A230-3699D441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复核记录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2B2807-F35C-4A9A-AE42-AA8CE5ED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241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E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E969E1-974A-49D9-ADC7-433FBB70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E9F6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DDE9F6"/>
                </a:solidFill>
                <a:latin typeface="Cascadia Mono"/>
                <a:ea typeface="Cascadia Mono"/>
                <a:cs typeface="Cascadia Mono"/>
              </a:rPr>
              <a:t>review_journal.jsonl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D68922-267F-4114-BAE9-E436ADF3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241935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071C42">
              <a:alpha val="93000"/>
            </a:srgbClr>
          </a:solidFill>
          <a:ln xmlns:a="http://schemas.openxmlformats.org/drawingml/2006/main" w="9525">
            <a:solidFill>
              <a:srgbClr val="42D392">
                <a:alpha val="7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2E57C2-04B4-432F-B92E-F9C0A702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241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正式材料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0B8B07-F066-434F-8118-14601EDE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6D1E8-0579-4AE6-950E-1A24D01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146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E9F6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DDE9F6"/>
                </a:solidFill>
                <a:latin typeface="Cascadia Mono"/>
                <a:ea typeface="Cascadia Mono"/>
                <a:cs typeface="Cascadia Mono"/>
              </a:rPr>
              <a:t>PDF · PPTX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D52CB0-D424-4CB1-A6A3-0B3C9E2F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5200650" cy="2076450"/>
          </a:xfrm>
          <a:prstGeom xmlns:a="http://schemas.openxmlformats.org/drawingml/2006/main" prst="roundRect">
            <a:avLst>
              <a:gd name="adj" fmla="val 917"/>
            </a:avLst>
          </a:prstGeom>
          <a:solidFill xmlns:a="http://schemas.openxmlformats.org/drawingml/2006/main">
            <a:srgbClr val="F7FAFE">
              <a:alpha val="96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DB65DB-3366-4FE5-950E-1C2DF546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29075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AC8ACC-F26F-4F70-BBB4-A13C86E1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复现命令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00AD1C-582D-4576-B3D8-BBE100C1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4629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0233F"/>
                </a:solidFill>
                <a:latin typeface="Cascadia Mono"/>
                <a:ea typeface="Cascadia Mono"/>
                <a:cs typeface="Cascadia Mono"/>
              </a:rPr>
              <a:t>$ python scripts/run_rtl_regression.py</a:t>
            </a:r>
          </a:p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0233F"/>
                </a:solidFill>
                <a:latin typeface="Cascadia Mono"/>
                <a:ea typeface="Cascadia Mono"/>
                <a:cs typeface="Cascadia Mono"/>
              </a:rPr>
              <a:t>$ python -m unittest discover -s tests -v</a:t>
            </a:r>
          </a:p>
          <a:p xmlns:a="http://schemas.openxmlformats.org/drawingml/2006/main">
            <a:pPr algn="l">
              <a:defRPr sz="1200" b="0">
                <a:solidFill>
                  <a:srgbClr val="10233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0233F"/>
                </a:solidFill>
                <a:latin typeface="Cascadia Mono"/>
                <a:ea typeface="Cascadia Mono"/>
                <a:cs typeface="Cascadia Mono"/>
              </a:rPr>
              <a:t>$ python scripts/build_verification_pdf.py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A8875A-E044-4C88-991E-A511B790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5353050" cy="2076450"/>
          </a:xfrm>
          <a:prstGeom xmlns:a="http://schemas.openxmlformats.org/drawingml/2006/main" prst="roundRect">
            <a:avLst>
              <a:gd name="adj" fmla="val 917"/>
            </a:avLst>
          </a:prstGeom>
          <a:solidFill xmlns:a="http://schemas.openxmlformats.org/drawingml/2006/main">
            <a:srgbClr val="F7FAFE">
              <a:alpha val="96000"/>
            </a:srgbClr>
          </a:solidFill>
          <a:ln xmlns:a="http://schemas.openxmlformats.org/drawingml/2006/main" w="9525">
            <a:solidFill>
              <a:srgbClr val="A9C7E5">
                <a:alpha val="7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B3F56B-1360-4E4E-BF8D-C6BC9B10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29075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F8C610-21E8-4828-BEB1-28EB32FC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官方总维度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F58218-3EE2-4BD5-A032-542B878F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4C3FA6-97DB-454E-B4B2-A1802A97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577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完整度 40%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AC11E6-5766-45E3-AEE6-4D10EA8B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33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ACF44F-E02D-4882-AE6E-9DF16BDF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577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技术深度 30%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092A75-CE81-4409-B783-636B7755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079091-7764-4181-8EEA-C5DB0608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10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AI 效率 20%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2C5B02-E6D1-4F14-8C17-9327D382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66D168-DDC0-4A06-B896-9DD5C927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10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工程质量 10%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5B3C8F-8E5F-4584-A7B0-3FE0C40A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626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6718D"/>
                </a:solidFill>
                <a:latin typeface="Microsoft YaHei"/>
                <a:ea typeface="Microsoft YaHei"/>
                <a:cs typeface="Microsoft YaHei"/>
              </a:rPr>
              <a:t>详细 20+25+15+20+20 证据矩阵：docs/scoring-evidence.md</a:t>
            </a:r>
          </a:p>
        </p:txBody>
      </p:sp>
    </p:spTree>
    <p:extLst>
      <p:ext uri="{BB962C8B-B14F-4D97-AF65-F5344CB8AC3E}">
        <p14:creationId xmlns:p14="http://schemas.microsoft.com/office/powerpoint/2010/main" val="20096437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8be49db3645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861CD-580F-44CC-839F-0C59C3BB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A">
              <a:alpha val="4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B043D-3BA2-4E0A-9051-95097F2E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05 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C9E57-DB90-45D4-8711-7A9E6FAE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CacheSage-UC 已形成真实 RTL 驱动、独立判定与人工复核闭环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27DE3-61CB-457F-A785-8B0C6D01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阶段结果由可复现命令和仓库证据支撑，未覆盖点与证据边界同样公开。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ECFA5-BADF-4625-AC14-958EF0D2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333750" cy="18669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071C42">
              <a:alpha val="92000"/>
            </a:srgbClr>
          </a:solidFill>
          <a:ln xmlns:a="http://schemas.openxmlformats.org/drawingml/2006/main" w="9525">
            <a:solidFill>
              <a:srgbClr val="42D392">
                <a:alpha val="7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AE4DC-67AA-46BB-B3B9-46C7EA1A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36/36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F9DEB-D4ED-4EA9-9DA7-942FE1C7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RTL 功能覆盖点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04B6E-6798-4F2E-8BE9-7B7FD3C3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达到 100.00%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725B5-638A-4406-94A9-D4788D5A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3333750" cy="18669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071C42">
              <a:alpha val="92000"/>
            </a:srgbClr>
          </a:solidFill>
          <a:ln xmlns:a="http://schemas.openxmlformats.org/drawingml/2006/main" w="9525">
            <a:solidFill>
              <a:srgbClr val="23C8E8">
                <a:alpha val="75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D0C0B-E24A-431B-861C-705CF5F6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1940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3C8E8"/>
                </a:solidFill>
                <a:latin typeface="Microsoft YaHei"/>
                <a:ea typeface="Microsoft YaHei"/>
                <a:cs typeface="Microsoft YaHei"/>
              </a:rPr>
              <a:t>207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C8303-C4B4-4176-A82B-D29D79C3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433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 Scoreboard 比较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0DEA8-395F-40A0-AE91-2529011B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0 个失败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02360-4E9C-4760-8B01-7601189C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71750"/>
            <a:ext cx="3333750" cy="18669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071C42">
              <a:alpha val="92000"/>
            </a:srgbClr>
          </a:solidFill>
          <a:ln xmlns:a="http://schemas.openxmlformats.org/drawingml/2006/main" w="9525">
            <a:solidFill>
              <a:srgbClr val="F4BE4F">
                <a:alpha val="7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D2691-8DF5-4220-926B-3E901B27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1940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rPr>
              <a:t>437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2BD2A-4046-4546-B5CD-C689D4E6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433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 DUT 事务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DE9E6-5F25-465A-A206-9593A04F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4DF"/>
                </a:solidFill>
                <a:latin typeface="Microsoft YaHei"/>
                <a:ea typeface="Microsoft YaHei"/>
                <a:cs typeface="Microsoft YaHei"/>
              </a:rPr>
              <a:t>directed + seeds 11/29/73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6FF75-AAE1-40BD-88A9-DE3E0BAC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78230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071A3D">
              <a:alpha val="93000"/>
            </a:srgbClr>
          </a:solidFill>
          <a:ln xmlns:a="http://schemas.openxmlformats.org/drawingml/2006/main" w="9525">
            <a:solidFill>
              <a:srgbClr val="6EA4D2">
                <a:alpha val="55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9EFE0-AFCD-4657-BB91-ADBB873B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BE4F"/>
                </a:solidFill>
                <a:latin typeface="Microsoft YaHei"/>
                <a:ea typeface="Microsoft YaHei"/>
                <a:cs typeface="Microsoft YaHei"/>
              </a:rPr>
              <a:t>验证边界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CCBE5-BC26-472A-897E-46EE0479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29200"/>
            <a:ext cx="910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输入等待 2 周期、响应等待 3 周期；payload 稳定且响应按序。 注入故障仅证明环境检错能力，不代表真实 RTL 缺陷。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E9CABF-E6ED-430B-990B-B3DBF4DE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B660B-F82A-4201-91A0-510C455B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15050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DE9F6"/>
                </a:solidFill>
                <a:latin typeface="Microsoft YaHei"/>
                <a:ea typeface="Microsoft YaHei"/>
                <a:cs typeface="Microsoft YaHei"/>
              </a:rPr>
              <a:t>CacheSage-UC · 可度量、可复核、可复现</a:t>
            </a:r>
          </a:p>
        </p:txBody>
      </p:sp>
    </p:spTree>
    <p:extLst>
      <p:ext uri="{BB962C8B-B14F-4D97-AF65-F5344CB8AC3E}">
        <p14:creationId xmlns:p14="http://schemas.microsoft.com/office/powerpoint/2010/main" val="1396989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2026-07-13T08:07:37.9430000Z</dcterms:created>
  <dcterms:modified xsi:type="dcterms:W3CDTF">2026-07-13T08:07:37.9430000Z</dcterms:modified>
</coreProperties>
</file>